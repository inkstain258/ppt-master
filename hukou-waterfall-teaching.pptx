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  <Relationship Id="rId4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封面页。《壶口瀑布》—— 梁衡。"同学们好，今天我们学习第八单元的第一篇课文——梁衡的《壶口瀑布》。先请大家看屏幕上这幅图，这就是位于山西与陕西交界的壶口瀑布，中国第二大瀑布。"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导入。"同学们，提到黄河，大家会想到什么？奔腾咆哮、气势磅礴？黄河是我们的母亲河，它孕育了中华文明。今天我们要学习的《壶口瀑布》，就是描写黄河上最壮观的一段。"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地理位置。"壶口瀑布在哪里呢？请看地图，它位于山西省吉县和陕西省宜川县交界处。黄河从北向南流到这里，河道突然从300多米收束到只有50米左右，就像壶嘴倒水一样，因此得名壶口瀑布。"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自然奇观。"壶口瀑布的上游河道宽约300-500米，到壶口处仅50米，落差20-30米。早在《尚书·禹贡》中就有记载，'悬注瀄旋，有若壶然'，说明了这个名称的由来。"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作者简介。"梁衡，当代著名作家，山西霍州人。他的散文以大气磅礴著称。大家学过他的《晋祠》吗？他的文章语言优美、结构严谨，非常值得我们学习。"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学习目标。"今天这节课，我们有四个学习目标：积累字词、梳理游踪、品味语言、体会精神。让我们开始吧。"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初读课文。"现在请大家听老师朗读课文，注意字音和节奏。边听边思考：作者几次来到壶口？分别在什么季节？"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生字词正音一。第一组生字词：告诫、推搡、驰骋、漩涡、寒噤、迂回、汩汩、潺潺。注意易错读音。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生字词正音二。第二组：怒不可遏、震耳欲聋、湿漉漉、弥散、前呼后拥、挟而不服、浪沫、窟窿。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词语释义。重点词语解释表格。告诫、推搡、驰骋、漩涡、寒噤、怒不可遏。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四字词语。震耳欲聋、前呼后拥、怒不可遏、勇往直前、挟而不服、死地必生。注意积累这些四字词语。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选词填空小测。检测生字词掌握情况。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什么是游记。"游记是记述旅途见闻的散文，有三个要素：所至（游踪）、所见（风貌）、所感（感悟）。本文采用定点换景的手法。"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阅读任务。"请同学们快速浏览课文，找出作者的游览路线、时间、所见所感。"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游踪路线图。"作者第一次在雨季来，只能远观；第二次在枯水季，从容下到沟底，沿河心→龙槽→河滩→石窝的路线游览。"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雨季壶口。"第一次在雨季，水位高、水势大，作者只能远观。'车还在半山腰就听见了'——以声写势的侧面描写。"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枯水季探瀑。"第二次从从容容下到沟底，近看瀑布真容。俯视、仰视、平视、细观，多角度描写。"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两次对比。"雨季远观侧面烘托，枯水季近看正面描写。两次对比形成反差，突出瀑布的特点。"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游踪小结。"总结文章结构：总起→雨季→枯水季→升华。写作特色：游踪为线索、定点换景、对比、托物言志。"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赏析1-2段。"第1段总起全文，第2段写雨季远观。侧面描写突出瀑布的气势。"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赏析第3段。"第3段写枯水季下到沟底。'跌'字用词精妙，"黄浪碎成白雪"比喻形色兼备。"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比喻之美。"文中四个精妙比喻：飞毯从空中抖落、钢板出轧、千军万马、黄浪碎成白雪。化无形为有形。"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拟人之妙。"涌着、挤着、撞着——赋予水生命力。'怒火万丈'——赋予人类的情绪。前呼后拥——拟人化拥挤。"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水的万千姿态。"动词链条：涌→挤→撞→碎→溅→扬→散。多感官描写：视觉、听觉、触觉。"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石头的见证。"写石头的变化，实际在写水的力量。排比句式：被水凿了、切了、旋了。"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由物及人。"第6段是全文核心升华段落。由水及人再到民族精神。'至柔至和的水一经被压迫竟会这样怒不可遏'。"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语言特色。"动词精准、比喻生动、拟人传神、排比有力。长短句结合，多感官描写。"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写作手法归纳。"定点换景、对比、托物言志、首尾呼应、侧面描写。五种手法综合运用。"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黄河水的品格。"这是全文最核心的八句。博大宽厚、柔中有刚、挟而不服、压而不弯、不平则呼、遇强则抗、死地必生、勇往直前。请同学们齐声朗读。"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黄河精神民族魂。"梁衡从壶口瀑布的壮丽景象中，看到了黄河的精神，这也是中华民族的精神。百折不挠、自强不息、包容万象。"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黄河文化。"黄河是中华文明的摇篮。仰韶文化、龙山文化、龙门石窟，都是黄河流域的文化瑰宝。"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黄河诗词。"请同学们齐读这些描写黄河的千古名句。李白、刘禹锡、王之涣——诗人们用最美的语言赞美黄河。"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拓展思考。"三个讨论问题：你从壶口瀑布中感受到怎样的力量？黄河精神对我们有什么启示？还有哪些体现民族精神的名胜？小组讨论5分钟。"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基础巩固。给加点字注音。检测八组字词。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阅读理解。三个阅读理解题，检测对课文内容和主题的理解。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小练笔。运用定点换景的写法，写200字左右的游记片段。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课文总结。"本文以游踪为线索，通过对壶口瀑布雨季和枯水季的描写，展现了瀑布的雄伟壮丽，表达了作者对黄河精神的赞美。"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作业布置。必做：背诵第4-6段。选做：写游记片段。拓展：查阅黄河文化资料。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封底。"同学们，今天我们学习了梁衡的《壶口瀑布》，不仅欣赏了瀑布的壮丽景象，更感受到了黄河精神的博大力量。希望大家在今后的学习和生活中，也能像黄河水一样勇往直前！"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75B2B"/>
              </a:gs>
              <a:gs pos="100000">
                <a:srgbClr val="E8A31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2667000"/>
            <a:ext cx="12192000" cy="381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550359" y="1512570"/>
            <a:ext cx="3091282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壶口瀑布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60720" y="2312670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梁衡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26566" y="3297555"/>
            <a:ext cx="373886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部编版初中语文 · 八年级下册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21860" y="6282690"/>
            <a:ext cx="31482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PPT Master · 语文教学课件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黄河印象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047750"/>
            <a:ext cx="10668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268695" y="14068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黄河，我们的母亲河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4854" y="628269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你见过黄河吗？你心中的黄河是什么样的？</a:t>
            </a:r>
          </a:p>
        </p:txBody>
      </p:sp>
      <p:sp>
        <p:nvSpPr>
          <p:cNvPr id="8" name="Rectangle 8"/>
          <p:cNvSpPr/>
          <p:nvPr/>
        </p:nvSpPr>
        <p:spPr>
          <a:xfrm>
            <a:off x="2286000" y="2000250"/>
            <a:ext cx="7620000" cy="2857500"/>
          </a:xfrm>
          <a:prstGeom prst="roundRect">
            <a:avLst>
              <a:gd name="adj" fmla="val 4000"/>
            </a:avLst>
          </a:prstGeom>
          <a:solidFill>
            <a:srgbClr val="FFF0E0"/>
          </a:solidFill>
          <a:ln w="19050">
            <a:solidFill>
              <a:srgbClr val="E8D5C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179979" y="3297555"/>
            <a:ext cx="183204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[黄河全景图]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15875" y="3631882"/>
            <a:ext cx="21602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B8A088"/>
                </a:solidFill>
                <a:latin typeface="Segoe UI"/>
                <a:ea typeface="Segoe UI"/>
                <a:cs typeface="Segoe UI"/>
              </a:rPr>
              <a:t>yellow_river_02.jpg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905000" y="504825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225040" y="5092065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奔腾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429000" y="504825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749040" y="5092065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咆哮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0" y="504825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273040" y="5092065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壮阔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77000" y="504825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797040" y="5092065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蜿蜒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01000" y="504825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199882" y="5092065"/>
            <a:ext cx="7452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母亲河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30806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壶口瀑布在哪里？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5715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919305" y="3583305"/>
            <a:ext cx="301939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[壶口瀑布地理位置图]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48830" y="4012882"/>
            <a:ext cx="19603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B8A088"/>
                </a:solidFill>
                <a:latin typeface="Segoe UI"/>
                <a:ea typeface="Segoe UI"/>
                <a:cs typeface="Segoe UI"/>
              </a:rPr>
              <a:t>hukou_map_01.jpg</a:t>
            </a:r>
          </a:p>
        </p:txBody>
      </p:sp>
      <p:sp>
        <p:nvSpPr>
          <p:cNvPr id="8" name="Rectangle 8"/>
          <p:cNvSpPr/>
          <p:nvPr/>
        </p:nvSpPr>
        <p:spPr>
          <a:xfrm>
            <a:off x="6667500" y="1047750"/>
            <a:ext cx="4953000" cy="5334000"/>
          </a:xfrm>
          <a:prstGeom prst="roundRect">
            <a:avLst>
              <a:gd name="adj" fmla="val 307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39658" y="13925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地理位置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39356" y="1901190"/>
            <a:ext cx="26837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位于山西省吉县与陕西省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39356" y="2234565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宜川县交界处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37832" y="282130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名称由来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39356" y="3282315"/>
            <a:ext cx="26837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黄河奔流至此，两岸石壁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39356" y="3615690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峭立，河口收束狭如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39356" y="3949065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壶口，故名壶口瀑布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37832" y="4535805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地位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048500" y="4953000"/>
            <a:ext cx="4191000" cy="476250"/>
          </a:xfrm>
          <a:prstGeom prst="roundRect">
            <a:avLst>
              <a:gd name="adj" fmla="val 20000"/>
            </a:avLst>
          </a:prstGeom>
          <a:solidFill>
            <a:srgbClr val="FFF0E0"/>
          </a:solidFill>
          <a:ln w="14288">
            <a:solidFill>
              <a:srgbClr val="E8A317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134606" y="5063490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中国第二大瀑布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34606" y="5377815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世界上最大的黄色瀑布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329052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壶口瀑布·自然奇观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9808" y="1217295"/>
            <a:ext cx="138135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河道宽度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332" y="1678305"/>
            <a:ext cx="23253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上游约 300-500米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332" y="2059305"/>
            <a:ext cx="183062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壶口处仅 50米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381500" y="1047750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4381500" y="104775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559808" y="1217295"/>
            <a:ext cx="7028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落差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61332" y="1678305"/>
            <a:ext cx="229708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瀑布落差 20-30米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61332" y="2059305"/>
            <a:ext cx="229708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龙槽深约 30-50米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91500" y="1047750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8191500" y="104775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369808" y="1217295"/>
            <a:ext cx="138135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年均流量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71332" y="1678305"/>
            <a:ext cx="177408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约 1000 m³/s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71332" y="2059305"/>
            <a:ext cx="277768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汛期可达 8000+ m³/s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57500"/>
            <a:ext cx="11049000" cy="1333500"/>
          </a:xfrm>
          <a:prstGeom prst="roundRect">
            <a:avLst>
              <a:gd name="adj" fmla="val 11429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71500" y="2857500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46582" y="3107055"/>
            <a:ext cx="287662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i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"悬注瀄旋，有若壶然"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3520440"/>
            <a:ext cx="187200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——《尚书·禹贡》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38061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形容水流从高处注入、回旋激荡，状如壶口倾倒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476750"/>
            <a:ext cx="11049000" cy="2095500"/>
          </a:xfrm>
          <a:prstGeom prst="roundRect">
            <a:avLst>
              <a:gd name="adj" fmla="val 7273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031560" y="5297805"/>
            <a:ext cx="212887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[壶口瀑布全景]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10411" y="5679758"/>
            <a:ext cx="25711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B8A088"/>
                </a:solidFill>
                <a:latin typeface="Segoe UI"/>
                <a:ea typeface="Segoe UI"/>
                <a:cs typeface="Segoe UI"/>
              </a:rPr>
              <a:t>hukou_panorama_02.jpg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走近作者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952500" y="1524000"/>
            <a:ext cx="1905000" cy="2286000"/>
          </a:xfrm>
          <a:prstGeom prst="roundRect">
            <a:avLst>
              <a:gd name="adj" fmla="val 50000"/>
            </a:avLst>
          </a:prstGeom>
          <a:solidFill>
            <a:srgbClr val="FFF0E0"/>
          </a:solidFill>
          <a:ln w="19050">
            <a:solidFill>
              <a:srgbClr val="C75B2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77950" y="2567940"/>
            <a:ext cx="12541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[作者肖像]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24784" y="1518285"/>
            <a:ext cx="79072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梁衡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29356" y="1996440"/>
            <a:ext cx="21385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1946—，山西霍州人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38500" y="2476500"/>
            <a:ext cx="8001000" cy="19050"/>
          </a:xfrm>
          <a:prstGeom prst="rect">
            <a:avLst/>
          </a:prstGeom>
          <a:solidFill>
            <a:srgbClr val="E8D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227832" y="2630805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身份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29356" y="304419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当代作家、著名新闻理论家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29356" y="3377565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曾任《人民日报》副总编辑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27832" y="38690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代表作品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29356" y="4282440"/>
            <a:ext cx="48646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《晋祠》《夏感》《觅渡，觅渡，渡何处？》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29356" y="4663440"/>
            <a:ext cx="36530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《跨越百年的美丽》《青山不老》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238500" y="5143500"/>
            <a:ext cx="8001000" cy="19050"/>
          </a:xfrm>
          <a:prstGeom prst="rect">
            <a:avLst/>
          </a:prstGeom>
          <a:solidFill>
            <a:srgbClr val="E8D5C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227832" y="529780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课文来源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29356" y="5711190"/>
            <a:ext cx="26837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本文选自《梁衡散文集》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29356" y="6044565"/>
            <a:ext cx="53734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梁衡的散文以"大气"著称，善用比喻展现自然之美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学习目标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51435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781050" y="1495425"/>
            <a:ext cx="342900" cy="3429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73387" y="1529715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2832" y="144018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识记生字词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4356" y="1853565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积累重点词语，掌握字音字形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096000" y="1047750"/>
            <a:ext cx="55245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6305550" y="1495425"/>
            <a:ext cx="342900" cy="3429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397887" y="1529715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7332" y="1440180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梳理游踪脉络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856" y="1853565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理清作者两次游览壶口的经历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2571750"/>
            <a:ext cx="51435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781050" y="3019425"/>
            <a:ext cx="342900" cy="3429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73387" y="3053715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2832" y="29641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品味语言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4356" y="3377565"/>
            <a:ext cx="389534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赏析生动传神的语言，学习定点换景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096000" y="2571750"/>
            <a:ext cx="55245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6305550" y="3019425"/>
            <a:ext cx="342900" cy="3429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397887" y="3053715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47332" y="2964180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体会黄河精神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48856" y="3377565"/>
            <a:ext cx="41376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感受壶口瀑布气势，理解黄河精神内涵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191000"/>
            <a:ext cx="11049000" cy="2190750"/>
          </a:xfrm>
          <a:prstGeom prst="roundRect">
            <a:avLst>
              <a:gd name="adj" fmla="val 69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343239" y="439293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重点与难点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96000" y="4743450"/>
            <a:ext cx="7620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3356" y="4901565"/>
            <a:ext cx="531289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★ 重点：梳理游踪，赏析文中精彩的比喻、拟人句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3356" y="5282565"/>
            <a:ext cx="38832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★ 重点：学习"定点换景"的写作手法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3356" y="5663565"/>
            <a:ext cx="603984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★ 难点：理解由水及人的升华，体会黄河精神的深刻内涵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329052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初读课文·整体感知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1905000"/>
          </a:xfrm>
          <a:prstGeom prst="roundRect">
            <a:avLst>
              <a:gd name="adj" fmla="val 8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11049000" cy="7620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405323" y="1217295"/>
            <a:ext cx="138135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听读要求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21023" y="1710690"/>
            <a:ext cx="374995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1. 注意字音，读准多音字和生僻字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42181" y="2044065"/>
            <a:ext cx="350763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2. 注意节奏，感受语言的韵律美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21023" y="2377440"/>
            <a:ext cx="374995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3. 整体感知，理清作者的游览思路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3238500"/>
            <a:ext cx="5334000" cy="3143250"/>
          </a:xfrm>
          <a:prstGeom prst="roundRect">
            <a:avLst>
              <a:gd name="adj" fmla="val 484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3238500"/>
            <a:ext cx="5334000" cy="7620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485739" y="344043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边读边思考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3356" y="3901440"/>
            <a:ext cx="216278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① 作者几次到壶口？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3356" y="4282440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② 分别是在什么季节？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3356" y="4663440"/>
            <a:ext cx="216278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③ 每次看到了什么？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3356" y="5044440"/>
            <a:ext cx="288973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④ 作者的感受有什么不同？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3238500"/>
            <a:ext cx="5334000" cy="3143250"/>
          </a:xfrm>
          <a:prstGeom prst="roundRect">
            <a:avLst>
              <a:gd name="adj" fmla="val 484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3238500"/>
            <a:ext cx="5334000" cy="7620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00739" y="344043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亮点抢先看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58356" y="3901440"/>
            <a:ext cx="27079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"车还在半山腰就听见了"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8356" y="4282440"/>
            <a:ext cx="24656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——未见其形，先闻其声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8356" y="4853940"/>
            <a:ext cx="281703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"河水从五百米宽的河道上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8356" y="5187315"/>
            <a:ext cx="187200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突然跌入深谷……"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8356" y="5568315"/>
            <a:ext cx="273222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——一个"跌"字，气势全出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367216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生字新词·正音（一）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553566" y="1217295"/>
            <a:ext cx="7028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告诫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6144" y="1630680"/>
            <a:ext cx="89771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gào jiè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52372" y="19935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警告劝诫</a:t>
            </a:r>
          </a:p>
        </p:txBody>
      </p:sp>
      <p:sp>
        <p:nvSpPr>
          <p:cNvPr id="9" name="Rectangle 9"/>
          <p:cNvSpPr/>
          <p:nvPr/>
        </p:nvSpPr>
        <p:spPr>
          <a:xfrm>
            <a:off x="3381375" y="1047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315816" y="1217295"/>
            <a:ext cx="7028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推搡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69975" y="1630680"/>
            <a:ext cx="119454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tuī sǎng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14622" y="19935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推来推去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191250" y="1047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25691" y="1217295"/>
            <a:ext cx="7028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驰骋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02107" y="1630680"/>
            <a:ext cx="135003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chí chěng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24497" y="19935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骑马奔跑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001125" y="1047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935566" y="1217295"/>
            <a:ext cx="7028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漩涡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39198" y="1630680"/>
            <a:ext cx="109560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xuán wō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01188" y="1993582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水流旋转的圆窝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2571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553566" y="2741295"/>
            <a:ext cx="7028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寒噤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20806" y="3154680"/>
            <a:ext cx="96838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hán jìn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7064" y="3517582"/>
            <a:ext cx="20158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因寒冷或恐惧而颤抖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3381375" y="2571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315816" y="2741295"/>
            <a:ext cx="7028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迂回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25461" y="3154680"/>
            <a:ext cx="88357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yū huí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03560" y="3517582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回旋、环绕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191250" y="2571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125691" y="2741295"/>
            <a:ext cx="7028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汩汩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13080" y="3154680"/>
            <a:ext cx="72809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gǔ gǔ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02374" y="3517582"/>
            <a:ext cx="134950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水流动的声音</a:t>
            </a:r>
          </a:p>
        </p:txBody>
      </p:sp>
      <p:sp>
        <p:nvSpPr>
          <p:cNvPr id="33" name="Rectangle 33"/>
          <p:cNvSpPr/>
          <p:nvPr/>
        </p:nvSpPr>
        <p:spPr>
          <a:xfrm>
            <a:off x="9001125" y="2571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935566" y="2741295"/>
            <a:ext cx="7028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潺潺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611982" y="3154680"/>
            <a:ext cx="135003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chán chán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723310" y="3517582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溪水流动声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095750"/>
            <a:ext cx="11049000" cy="2286000"/>
          </a:xfrm>
          <a:prstGeom prst="roundRect">
            <a:avLst>
              <a:gd name="adj" fmla="val 666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491658" y="42976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易错提示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096000" y="4648200"/>
            <a:ext cx="5715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43356" y="4853940"/>
            <a:ext cx="53492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告诫 (jiè) — 注意不读"gào jiè"中的"诫"读第四声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3356" y="5234940"/>
            <a:ext cx="465863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驰骋 (chěng) — 注意"骋"不读"pìn"（聘）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3356" y="5615940"/>
            <a:ext cx="434362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漩涡 (xuán wō) — "漩"读xuán不读xuàn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367216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生字新词·正音（二）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214323" y="1217295"/>
            <a:ext cx="138135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怒不可遏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2915" y="1630680"/>
            <a:ext cx="136417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nù bù kě 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9188" y="1993582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愤怒得难以抑制</a:t>
            </a:r>
          </a:p>
        </p:txBody>
      </p:sp>
      <p:sp>
        <p:nvSpPr>
          <p:cNvPr id="9" name="Rectangle 9"/>
          <p:cNvSpPr/>
          <p:nvPr/>
        </p:nvSpPr>
        <p:spPr>
          <a:xfrm>
            <a:off x="3381375" y="1047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976573" y="1217295"/>
            <a:ext cx="138135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震耳欲聋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31787" y="1630680"/>
            <a:ext cx="207092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zhèn ěr yù lóng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59314" y="1993582"/>
            <a:ext cx="20158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声音大得快震聋耳朵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191250" y="1047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956069" y="1217295"/>
            <a:ext cx="104211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湿漉漉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08121" y="1630680"/>
            <a:ext cx="113800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shī lù lù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91312" y="1993582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形容潮湿的样子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001125" y="1047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935566" y="1217295"/>
            <a:ext cx="7028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弥散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16941" y="1630680"/>
            <a:ext cx="94011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mí sàn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34372" y="19935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弥漫消散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2571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214323" y="2741295"/>
            <a:ext cx="138135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前呼后拥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1794" y="3154680"/>
            <a:ext cx="222641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qián hū hòu yōng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2372" y="35175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簇拥跟随</a:t>
            </a:r>
          </a:p>
        </p:txBody>
      </p:sp>
      <p:sp>
        <p:nvSpPr>
          <p:cNvPr id="25" name="Rectangle 25"/>
          <p:cNvSpPr/>
          <p:nvPr/>
        </p:nvSpPr>
        <p:spPr>
          <a:xfrm>
            <a:off x="3381375" y="2571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976573" y="2741295"/>
            <a:ext cx="138135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挟而不服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865016" y="3154680"/>
            <a:ext cx="160446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xié ér bù fú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81438" y="3517582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被挟持却不屈服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191250" y="2571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125691" y="2741295"/>
            <a:ext cx="7028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浪沫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64661" y="3154680"/>
            <a:ext cx="102492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làng mò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24497" y="35175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浪花泡沫</a:t>
            </a:r>
          </a:p>
        </p:txBody>
      </p:sp>
      <p:sp>
        <p:nvSpPr>
          <p:cNvPr id="33" name="Rectangle 33"/>
          <p:cNvSpPr/>
          <p:nvPr/>
        </p:nvSpPr>
        <p:spPr>
          <a:xfrm>
            <a:off x="9001125" y="2571750"/>
            <a:ext cx="257175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935566" y="2741295"/>
            <a:ext cx="7028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窟窿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802806" y="3154680"/>
            <a:ext cx="96838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kū long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056495" y="3517582"/>
            <a:ext cx="4610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洞穴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095750"/>
            <a:ext cx="11049000" cy="2286000"/>
          </a:xfrm>
          <a:prstGeom prst="roundRect">
            <a:avLst>
              <a:gd name="adj" fmla="val 666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491658" y="42976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书写注意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096000" y="4648200"/>
            <a:ext cx="5715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43356" y="4853940"/>
            <a:ext cx="56036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怒不可遏 — "遏"字笔画：一 丨 𠃍 一 一 ㇂ ㇏ 𠃍 丶 丶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3356" y="5234940"/>
            <a:ext cx="473133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震耳欲聋 — "震"字上面是"雨"，下面是"辰"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3356" y="5615940"/>
            <a:ext cx="376207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弥散 — "弥"字左边"弓"，右边"尔"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5272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重点词语·释义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476250"/>
          </a:xfrm>
          <a:prstGeom prst="roundRect">
            <a:avLst>
              <a:gd name="adj" fmla="val 32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2571750" cy="476250"/>
          </a:xfrm>
          <a:prstGeom prst="roundRect">
            <a:avLst>
              <a:gd name="adj" fmla="val 2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49870" y="111633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词语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4870" y="111633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拼音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88745" y="111633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释义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66687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571835" y="1837372"/>
            <a:ext cx="57108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告诫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45580" y="1837372"/>
            <a:ext cx="83359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95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gào jiè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28844" y="1837372"/>
            <a:ext cx="448246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警告劝诫（上级对下级或长辈对晚辈）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42887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571835" y="2599372"/>
            <a:ext cx="57108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推搡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07763" y="2599372"/>
            <a:ext cx="110922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95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tuī sǎng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28844" y="2599372"/>
            <a:ext cx="395744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推来推去，文中形容水流互相拥挤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319087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571835" y="3361372"/>
            <a:ext cx="57108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驰骋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35573" y="3361372"/>
            <a:ext cx="125360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95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chí chěng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28844" y="3361372"/>
            <a:ext cx="395744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（骑马）奔驰，文中比喻水流奔涌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95287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571835" y="4123372"/>
            <a:ext cx="57108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漩涡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53702" y="4123372"/>
            <a:ext cx="10173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95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xuán wō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28844" y="4123372"/>
            <a:ext cx="238239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水流旋转形成的圆窝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71487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571835" y="4885372"/>
            <a:ext cx="57108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寒噤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12766" y="4885372"/>
            <a:ext cx="89921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95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hán jìn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28844" y="4885372"/>
            <a:ext cx="290741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因寒冷或恐惧而身体颤抖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547687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296200" y="564737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怒不可遏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129010" y="5647372"/>
            <a:ext cx="12667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950" dirty="0">
                <a:solidFill>
                  <a:srgbClr val="2D1810"/>
                </a:solidFill>
                <a:latin typeface="Segoe UI"/>
                <a:ea typeface="Segoe UI"/>
                <a:cs typeface="Segoe UI"/>
              </a:rPr>
              <a:t>nù bù kě 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28844" y="5647372"/>
            <a:ext cx="185737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愤怒得难以抑制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5272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四字词语·品味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51435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6582" y="12496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震耳欲聋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106" y="1663065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声音大得快要把耳朵震聋了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868" y="1993582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A088"/>
                </a:solidFill>
                <a:latin typeface="Segoe UI"/>
                <a:ea typeface="Microsoft YaHei"/>
                <a:cs typeface="Segoe UI"/>
              </a:rPr>
              <a:t>例句：瀑布的轰鸣声震耳欲聋。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286500" y="1047750"/>
            <a:ext cx="53340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6286500" y="1047750"/>
            <a:ext cx="5334000" cy="571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561582" y="12496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前呼后拥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63106" y="1663065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前面有人吆喝，后面有人簇拥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63868" y="1993582"/>
            <a:ext cx="33486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A088"/>
                </a:solidFill>
                <a:latin typeface="Segoe UI"/>
                <a:ea typeface="Microsoft YaHei"/>
                <a:cs typeface="Segoe UI"/>
              </a:rPr>
              <a:t>例句：浪花前呼后拥地涌向岸边。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2571750"/>
            <a:ext cx="51435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2571750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46582" y="27736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怒不可遏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8106" y="318706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愤怒得难以抑制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8868" y="3517582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A088"/>
                </a:solidFill>
                <a:latin typeface="Segoe UI"/>
                <a:ea typeface="Microsoft YaHei"/>
                <a:cs typeface="Segoe UI"/>
              </a:rPr>
              <a:t>例句：河水被两岸挤压得怒不可遏。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2571750"/>
            <a:ext cx="53340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286500" y="2571750"/>
            <a:ext cx="5334000" cy="571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561582" y="27736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勇往直前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3106" y="3187065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勇敢地一直向前进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3868" y="3517582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A088"/>
                </a:solidFill>
                <a:latin typeface="Segoe UI"/>
                <a:ea typeface="Microsoft YaHei"/>
                <a:cs typeface="Segoe UI"/>
              </a:rPr>
              <a:t>例句：黄河水死地必生，勇往直前。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095750"/>
            <a:ext cx="51435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4095750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46582" y="42976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挟而不服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8106" y="471106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被挟持却不屈服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8868" y="5041582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A088"/>
                </a:solidFill>
                <a:latin typeface="Segoe UI"/>
                <a:ea typeface="Microsoft YaHei"/>
                <a:cs typeface="Segoe UI"/>
              </a:rPr>
              <a:t>例句：黄河水挟而不服，遇强则抗。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86500" y="4095750"/>
            <a:ext cx="53340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286500" y="4095750"/>
            <a:ext cx="5334000" cy="571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61582" y="42976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死地必生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63106" y="471106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绝境中寻找生机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63868" y="5041582"/>
            <a:ext cx="226020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A088"/>
                </a:solidFill>
                <a:latin typeface="Segoe UI"/>
                <a:ea typeface="Microsoft YaHei"/>
                <a:cs typeface="Segoe UI"/>
              </a:rPr>
              <a:t>出自"置之死地而后生"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329052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选词填空·活学活用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152400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704850" y="1323975"/>
            <a:ext cx="304800" cy="3048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84730" y="13649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9957" y="13163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选词填空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3356" y="1758315"/>
            <a:ext cx="63911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瀑布的轰鸣声（ ），站在百米之外都能感受到大地的震动。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3356" y="2139315"/>
            <a:ext cx="57790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A. 怒不可遏 B. 震耳欲聋 C. 前呼后拥 D. 勇往直前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762250"/>
            <a:ext cx="11049000" cy="152400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704850" y="3038475"/>
            <a:ext cx="304800" cy="3048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84730" y="30794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9957" y="29641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选词填空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3356" y="3425190"/>
            <a:ext cx="566425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洪水（ ）地涌来，一层叠着一层，仿佛有生命一般。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3356" y="3806190"/>
            <a:ext cx="57790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A. 怒不可遏 B. 震耳欲聋 C. 前呼后拥 D. 勇往直前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4476750"/>
            <a:ext cx="11049000" cy="1905000"/>
          </a:xfrm>
          <a:prstGeom prst="roundRect">
            <a:avLst>
              <a:gd name="adj" fmla="val 8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704850" y="4752975"/>
            <a:ext cx="304800" cy="3048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84730" y="47939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9957" y="4678680"/>
            <a:ext cx="298970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写出下列词语的近义词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3356" y="5187315"/>
            <a:ext cx="34712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告诫 → ( ) 潺潺 → ( ) 推搡 → ( 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3356" y="5615940"/>
            <a:ext cx="34712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迂回 → ( ) 驰骋 → ( ) 寒噤 → ( 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4118" y="6013132"/>
            <a:ext cx="470355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A088"/>
                </a:solidFill>
                <a:latin typeface="Segoe UI"/>
                <a:ea typeface="Microsoft YaHei"/>
                <a:cs typeface="Segoe UI"/>
              </a:rPr>
              <a:t>(答案：警告、淙淙、推挤、回旋、奔驰、哆嗦)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31731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什么是游记？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11049000" cy="7620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235702" y="1407795"/>
            <a:ext cx="172059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游记的定义</a:t>
            </a:r>
          </a:p>
        </p:txBody>
      </p:sp>
      <p:sp>
        <p:nvSpPr>
          <p:cNvPr id="8" name="Rectangle 8"/>
          <p:cNvSpPr/>
          <p:nvPr/>
        </p:nvSpPr>
        <p:spPr>
          <a:xfrm>
            <a:off x="1524000" y="1905000"/>
            <a:ext cx="9144000" cy="762000"/>
          </a:xfrm>
          <a:prstGeom prst="roundRect">
            <a:avLst>
              <a:gd name="adj" fmla="val 2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78773" y="2173605"/>
            <a:ext cx="683445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以"游踪"为线索，记述旅途见闻，表达作者情感的散文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096000" y="2809875"/>
            <a:ext cx="7620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952500" y="3048000"/>
            <a:ext cx="3048000" cy="1524000"/>
          </a:xfrm>
          <a:prstGeom prst="roundRect">
            <a:avLst>
              <a:gd name="adj" fmla="val 75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2247900" y="3200400"/>
            <a:ext cx="457200" cy="4572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212924" y="3301365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所至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04085" y="3742372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游踪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90688" y="4108132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作者的游览路线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72000" y="3048000"/>
            <a:ext cx="3048000" cy="1524000"/>
          </a:xfrm>
          <a:prstGeom prst="roundRect">
            <a:avLst>
              <a:gd name="adj" fmla="val 75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5867400" y="3200400"/>
            <a:ext cx="457200" cy="4572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832424" y="3301365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所见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23585" y="3742372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风貌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21249" y="4108132"/>
            <a:ext cx="134950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沿途所见景物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191500" y="3048000"/>
            <a:ext cx="3048000" cy="1524000"/>
          </a:xfrm>
          <a:prstGeom prst="roundRect">
            <a:avLst>
              <a:gd name="adj" fmla="val 75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9486900" y="3200400"/>
            <a:ext cx="457200" cy="4572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51924" y="3301365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所感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43085" y="3742372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感悟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29688" y="4108132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作者的情感升华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49565" y="5107305"/>
            <a:ext cx="26928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本文特色：定点换景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09800" y="5520690"/>
            <a:ext cx="77724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以河心为固定观察点，从不同角度（俯视、仰视、远观、近看）描写景物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90887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默读课文·找游踪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1905000"/>
          </a:xfrm>
          <a:prstGeom prst="roundRect">
            <a:avLst>
              <a:gd name="adj" fmla="val 8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7150" cy="190500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6582" y="1297305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阅读任务一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106" y="1710690"/>
            <a:ext cx="389534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快速浏览课文，找出作者的游览路线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106" y="2091690"/>
            <a:ext cx="36530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提示：关注表示地点和方位的词语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3238500"/>
            <a:ext cx="5334000" cy="3143250"/>
          </a:xfrm>
          <a:prstGeom prst="roundRect">
            <a:avLst>
              <a:gd name="adj" fmla="val 484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3238500"/>
            <a:ext cx="57150" cy="31432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6582" y="344043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阅读任务二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8106" y="390144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文章写了几次到壶口瀑布？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106" y="4282440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分别是在什么季节？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8106" y="4663440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每次看到怎样的景象？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8106" y="5044440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作者的感受有何不同？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8106" y="5520690"/>
            <a:ext cx="264741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※ 注意边读边圈画关键词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3238500"/>
            <a:ext cx="5334000" cy="3143250"/>
          </a:xfrm>
          <a:prstGeom prst="roundRect">
            <a:avLst>
              <a:gd name="adj" fmla="val 484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3238500"/>
            <a:ext cx="57150" cy="31432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561582" y="344043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阅读任务三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3106" y="3901440"/>
            <a:ext cx="26837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找出文中描写壶口瀑布的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3106" y="423481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比喻句和拟人句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3106" y="4663440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思考：这些修辞手法有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3106" y="499681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什么表达效果？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3106" y="5520690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※ 圈出你最欣赏的句子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193567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游踪路线图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51435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308859" y="1249680"/>
            <a:ext cx="166878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第一次·雨季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62036" y="1710690"/>
            <a:ext cx="296242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半山腰远观 → 无法下到河滩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02130" y="1993582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只能远看，感受瀑布的声势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82329" y="2566035"/>
            <a:ext cx="227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dirty="0">
                <a:solidFill>
                  <a:srgbClr val="E8A317"/>
                </a:solidFill>
                <a:latin typeface="Segoe UI"/>
                <a:ea typeface="Segoe UI"/>
                <a:cs typeface="Segoe UI"/>
              </a:rPr>
              <a:t>▼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3048000"/>
            <a:ext cx="51435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3048000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60440" y="3249930"/>
            <a:ext cx="196561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第二次·枯水季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01547" y="3710940"/>
            <a:ext cx="34834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下到沟底 → 走到河心 → 俯视龙槽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46376" y="3993832"/>
            <a:ext cx="17937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近距离多角度观赏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1047750"/>
            <a:ext cx="5334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052321" y="1249680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详细路线流程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953500" y="1600200"/>
            <a:ext cx="5715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6705600" y="1943100"/>
            <a:ext cx="304800" cy="3048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792073" y="2000250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34606" y="1967865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下到沟底（枯水季）</a:t>
            </a:r>
          </a:p>
        </p:txBody>
      </p:sp>
      <p:sp>
        <p:nvSpPr>
          <p:cNvPr id="22" name="Line 22"/>
          <p:cNvSpPr/>
          <p:nvPr/>
        </p:nvSpPr>
        <p:spPr>
          <a:xfrm>
            <a:off x="7010400" y="2247900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9050">
            <a:solidFill>
              <a:srgbClr val="E8D5C0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6705600" y="2609850"/>
            <a:ext cx="304800" cy="3048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792073" y="2667000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34606" y="2634615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走到河心俯视龙槽</a:t>
            </a:r>
          </a:p>
        </p:txBody>
      </p:sp>
      <p:sp>
        <p:nvSpPr>
          <p:cNvPr id="26" name="Line 26"/>
          <p:cNvSpPr/>
          <p:nvPr/>
        </p:nvSpPr>
        <p:spPr>
          <a:xfrm>
            <a:off x="7010400" y="2914650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9050">
            <a:solidFill>
              <a:srgbClr val="E8D5C0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6705600" y="3276600"/>
            <a:ext cx="304800" cy="3048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92073" y="3333750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34606" y="3301365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仰观瀑布飞流直下</a:t>
            </a:r>
          </a:p>
        </p:txBody>
      </p:sp>
      <p:sp>
        <p:nvSpPr>
          <p:cNvPr id="30" name="Line 30"/>
          <p:cNvSpPr/>
          <p:nvPr/>
        </p:nvSpPr>
        <p:spPr>
          <a:xfrm>
            <a:off x="7010400" y="3581400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9050">
            <a:solidFill>
              <a:srgbClr val="E8D5C0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6705600" y="3943350"/>
            <a:ext cx="304800" cy="3048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2073" y="4000500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34606" y="3968115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河滩观察石窝奇观</a:t>
            </a:r>
          </a:p>
        </p:txBody>
      </p:sp>
      <p:sp>
        <p:nvSpPr>
          <p:cNvPr id="34" name="Line 34"/>
          <p:cNvSpPr/>
          <p:nvPr/>
        </p:nvSpPr>
        <p:spPr>
          <a:xfrm>
            <a:off x="7010400" y="4248150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9050">
            <a:solidFill>
              <a:srgbClr val="E8D5C0"/>
            </a:solidFill>
          </a:ln>
        </p:spPr>
      </p:sp>
      <p:sp>
        <p:nvSpPr>
          <p:cNvPr id="35" name="Ellipse 35"/>
          <p:cNvSpPr/>
          <p:nvPr/>
        </p:nvSpPr>
        <p:spPr>
          <a:xfrm>
            <a:off x="6705600" y="4610100"/>
            <a:ext cx="304800" cy="3048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792073" y="4667250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134606" y="4634865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感悟黄河精神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90887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第一次·雨季观瀑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5715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364560" y="3583305"/>
            <a:ext cx="212887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[雨季壶口瀑布]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76640" y="4012882"/>
            <a:ext cx="210472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B8A088"/>
                </a:solidFill>
                <a:latin typeface="Segoe UI"/>
                <a:ea typeface="Segoe UI"/>
                <a:cs typeface="Segoe UI"/>
              </a:rPr>
              <a:t>hukou_rainy_01.jpg</a:t>
            </a:r>
          </a:p>
        </p:txBody>
      </p:sp>
      <p:sp>
        <p:nvSpPr>
          <p:cNvPr id="8" name="Rectangle 8"/>
          <p:cNvSpPr/>
          <p:nvPr/>
        </p:nvSpPr>
        <p:spPr>
          <a:xfrm>
            <a:off x="6667500" y="1047750"/>
            <a:ext cx="4953000" cy="2476500"/>
          </a:xfrm>
          <a:prstGeom prst="roundRect">
            <a:avLst>
              <a:gd name="adj" fmla="val 6154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6667500" y="1047750"/>
            <a:ext cx="49530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39658" y="129730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雨季特点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44106" y="1758315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水势浩大，声势惊人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44106" y="2091690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只能远观，无法靠近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44106" y="2425065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雾气弥漫，惊心动魄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44106" y="2758440"/>
            <a:ext cx="16781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为下文做铺垫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667500" y="3810000"/>
            <a:ext cx="4953000" cy="2571750"/>
          </a:xfrm>
          <a:prstGeom prst="roundRect">
            <a:avLst>
              <a:gd name="adj" fmla="val 5926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6667500" y="3810000"/>
            <a:ext cx="4953000" cy="571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391239" y="4059555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关键句赏析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44106" y="4520565"/>
            <a:ext cx="27079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i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"车还在半山腰就听见了"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44106" y="4901565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→ 未见其形，先闻其声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44106" y="5282565"/>
            <a:ext cx="288973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→ 侧面描写，突出瀑布声势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44106" y="5663565"/>
            <a:ext cx="313204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→ 为下文枯水季正面描写蓄势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329052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第二次·枯水季探瀑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5334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334000" cy="571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485739" y="1297305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枯水季特点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106" y="1805940"/>
            <a:ext cx="288973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水量减小，可以下到沟底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106" y="2186940"/>
            <a:ext cx="264741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从从容容，近距离观察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8106" y="2567940"/>
            <a:ext cx="264741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多角度观赏，正面描写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8106" y="2948940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笔墨集中，细节丰富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57250" y="3524250"/>
            <a:ext cx="4762500" cy="19050"/>
          </a:xfrm>
          <a:prstGeom prst="rect">
            <a:avLst/>
          </a:prstGeom>
          <a:solidFill>
            <a:srgbClr val="E8D5C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634158" y="36785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观赏角度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106" y="4091940"/>
            <a:ext cx="361668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★ 俯视：龙槽深不可测，河水跌入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8106" y="4472940"/>
            <a:ext cx="313204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★ 仰视：瀑布从槽顶涌出飞落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8106" y="4853940"/>
            <a:ext cx="313204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★ 平视：河水奔涌，浪花飞溅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8106" y="5234940"/>
            <a:ext cx="313204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★ 细观：石头被水冲刷的形态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1047750"/>
            <a:ext cx="5334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740642" y="3583305"/>
            <a:ext cx="242571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[枯水季壶口瀑布]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95542" y="4012882"/>
            <a:ext cx="19159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B8A088"/>
                </a:solidFill>
                <a:latin typeface="Segoe UI"/>
                <a:ea typeface="Segoe UI"/>
                <a:cs typeface="Segoe UI"/>
              </a:rPr>
              <a:t>hukou_dry_01.jpg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329052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两次观瀑·对比分析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5334000" cy="2476500"/>
          </a:xfrm>
          <a:prstGeom prst="roundRect">
            <a:avLst>
              <a:gd name="adj" fmla="val 6154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334000" cy="476250"/>
          </a:xfrm>
          <a:prstGeom prst="roundRect">
            <a:avLst>
              <a:gd name="adj" fmla="val 2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909030" y="1109662"/>
            <a:ext cx="6589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雨季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106" y="1663065"/>
            <a:ext cx="192046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远观（半山腰）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106" y="1996440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水势浩大，声势震天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8106" y="2329815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雾气弥漫，惊心动魄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8106" y="26631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侧面烘托 → 蓄势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868" y="3060382"/>
            <a:ext cx="20158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目的：为下文做铺垫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1047750"/>
            <a:ext cx="5334000" cy="2476500"/>
          </a:xfrm>
          <a:prstGeom prst="roundRect">
            <a:avLst>
              <a:gd name="adj" fmla="val 6154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286500" y="1047750"/>
            <a:ext cx="5334000" cy="476250"/>
          </a:xfrm>
          <a:prstGeom prst="roundRect">
            <a:avLst>
              <a:gd name="adj" fmla="val 2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465010" y="1109662"/>
            <a:ext cx="97697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枯水季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63106" y="1663065"/>
            <a:ext cx="216278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近看（下到沟底）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63106" y="1996440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从从容容，细致观察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63106" y="2329815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雄奇壮美，细节丰富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63106" y="26631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正面描写 → 高潮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63868" y="3060382"/>
            <a:ext cx="24601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目的：集中笔墨展现瀑布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810000"/>
            <a:ext cx="11049000" cy="2571750"/>
          </a:xfrm>
          <a:prstGeom prst="roundRect">
            <a:avLst>
              <a:gd name="adj" fmla="val 5926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491658" y="401193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对比维度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96000" y="4362450"/>
            <a:ext cx="5715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952500" y="4572000"/>
            <a:ext cx="3048000" cy="381000"/>
          </a:xfrm>
          <a:prstGeom prst="roundRect">
            <a:avLst>
              <a:gd name="adj" fmla="val 2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085708" y="4634865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对比项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000500" y="4572000"/>
            <a:ext cx="2857500" cy="381000"/>
          </a:xfrm>
          <a:prstGeom prst="roundRect">
            <a:avLst>
              <a:gd name="adj" fmla="val 2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165674" y="4634865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雨季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858000" y="4572000"/>
            <a:ext cx="2857500" cy="381000"/>
          </a:xfrm>
          <a:prstGeom prst="roundRect">
            <a:avLst>
              <a:gd name="adj" fmla="val 2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895958" y="4634865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枯水季</a:t>
            </a:r>
          </a:p>
        </p:txBody>
      </p:sp>
      <p:sp>
        <p:nvSpPr>
          <p:cNvPr id="30" name="Rectangle 30"/>
          <p:cNvSpPr/>
          <p:nvPr/>
        </p:nvSpPr>
        <p:spPr>
          <a:xfrm>
            <a:off x="9715500" y="4572000"/>
            <a:ext cx="1524000" cy="381000"/>
          </a:xfrm>
          <a:prstGeom prst="roundRect">
            <a:avLst>
              <a:gd name="adj" fmla="val 2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213924" y="4634865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写法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33856" y="509206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观察位置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814316" y="5092065"/>
            <a:ext cx="12298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半山腰远观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92974" y="509206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沟底近看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83724" y="509206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远近变化</a:t>
            </a:r>
          </a:p>
        </p:txBody>
      </p:sp>
      <p:sp>
        <p:nvSpPr>
          <p:cNvPr id="36" name="Line 36"/>
          <p:cNvSpPr/>
          <p:nvPr/>
        </p:nvSpPr>
        <p:spPr>
          <a:xfrm>
            <a:off x="952500" y="54483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9525">
            <a:solidFill>
              <a:srgbClr val="E8D5C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133856" y="552069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瀑布景象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935474" y="552069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雾气弥漫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792974" y="552069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雄奇壮美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983724" y="552069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虚实结合</a:t>
            </a:r>
          </a:p>
        </p:txBody>
      </p:sp>
      <p:sp>
        <p:nvSpPr>
          <p:cNvPr id="41" name="Line 41"/>
          <p:cNvSpPr/>
          <p:nvPr/>
        </p:nvSpPr>
        <p:spPr>
          <a:xfrm>
            <a:off x="952500" y="5876925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9525">
            <a:solidFill>
              <a:srgbClr val="E8D5C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133856" y="594931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表达手法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935474" y="594931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侧面烘托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792974" y="594931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正面描写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983724" y="594931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衬托突出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5272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游踪梳理·小结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066081" y="1312545"/>
            <a:ext cx="205983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文章结构梳理</a:t>
            </a:r>
          </a:p>
        </p:txBody>
      </p:sp>
      <p:sp>
        <p:nvSpPr>
          <p:cNvPr id="7" name="Rectangle 7"/>
          <p:cNvSpPr/>
          <p:nvPr/>
        </p:nvSpPr>
        <p:spPr>
          <a:xfrm>
            <a:off x="6096000" y="1695450"/>
            <a:ext cx="7620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52500" y="2000250"/>
            <a:ext cx="2095500" cy="762000"/>
          </a:xfrm>
          <a:prstGeom prst="roundRect">
            <a:avLst>
              <a:gd name="adj" fmla="val 125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87641" y="2265998"/>
            <a:ext cx="182521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总起（第1段）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46959" y="2122170"/>
            <a:ext cx="202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E8A3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429000" y="2000250"/>
            <a:ext cx="2286000" cy="762000"/>
          </a:xfrm>
          <a:prstGeom prst="roundRect">
            <a:avLst>
              <a:gd name="adj" fmla="val 125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383757" y="2265998"/>
            <a:ext cx="237648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雨季观瀑（第2段）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13959" y="2122170"/>
            <a:ext cx="202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E8A3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96000" y="2000250"/>
            <a:ext cx="2667000" cy="762000"/>
          </a:xfrm>
          <a:prstGeom prst="roundRect">
            <a:avLst>
              <a:gd name="adj" fmla="val 125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089658" y="2265998"/>
            <a:ext cx="26796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枯水季探瀑（3-5段）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61959" y="2122170"/>
            <a:ext cx="202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E8A3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144000" y="2000250"/>
            <a:ext cx="2286000" cy="762000"/>
          </a:xfrm>
          <a:prstGeom prst="roundRect">
            <a:avLst>
              <a:gd name="adj" fmla="val 125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098757" y="2265998"/>
            <a:ext cx="237648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感悟升华（第6段）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91658" y="320230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写作特色</a:t>
            </a:r>
          </a:p>
        </p:txBody>
      </p:sp>
      <p:sp>
        <p:nvSpPr>
          <p:cNvPr id="20" name="Rectangle 20"/>
          <p:cNvSpPr/>
          <p:nvPr/>
        </p:nvSpPr>
        <p:spPr>
          <a:xfrm>
            <a:off x="952500" y="3619500"/>
            <a:ext cx="4762500" cy="114300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1162050" y="3829050"/>
            <a:ext cx="342900" cy="3429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260980" y="3889058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04594" y="378999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游踪为线索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05356" y="4168140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由远及近、由上而下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86500" y="3619500"/>
            <a:ext cx="4762500" cy="114300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6496050" y="3829050"/>
            <a:ext cx="342900" cy="342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594980" y="3889058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38594" y="37899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定点换景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39356" y="416814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以河心为定点，多角度观察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952500" y="4953000"/>
            <a:ext cx="4762500" cy="114300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1162050" y="5162550"/>
            <a:ext cx="342900" cy="3429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260980" y="5222558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04594" y="51234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对比手法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05356" y="5501640"/>
            <a:ext cx="26837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雨季与枯水季的不同景象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286500" y="4953000"/>
            <a:ext cx="4762500" cy="114300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6496050" y="5162550"/>
            <a:ext cx="342900" cy="342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594980" y="5222558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038594" y="51234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托物言志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039356" y="5501640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由水及人，由景入情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5272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品读·初到壶口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5334000" cy="2571750"/>
          </a:xfrm>
          <a:prstGeom prst="roundRect">
            <a:avLst>
              <a:gd name="adj" fmla="val 5926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3340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107272" y="1249680"/>
            <a:ext cx="22624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第1段：总起全文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106" y="1710690"/>
            <a:ext cx="22233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"我曾两次到过壶口"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106" y="2091690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开篇点题，引出下文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8106" y="2472690"/>
            <a:ext cx="27079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"两次"为后文对比做铺垫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8106" y="2853690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简洁有力，引人入胜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1047750"/>
            <a:ext cx="5334000" cy="2571750"/>
          </a:xfrm>
          <a:prstGeom prst="roundRect">
            <a:avLst>
              <a:gd name="adj" fmla="val 5926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286500" y="1047750"/>
            <a:ext cx="5334000" cy="571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822272" y="1249680"/>
            <a:ext cx="22624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第2段：雨季远观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63106" y="1710690"/>
            <a:ext cx="27079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"车还在半山腰就听见了"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63106" y="2091690"/>
            <a:ext cx="33985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★ 以声写势——未见其形先闻其声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63106" y="2472690"/>
            <a:ext cx="19810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"上面还在打雷呢"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63106" y="2853690"/>
            <a:ext cx="337436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★ 用雷声比喻瀑布声，侧面描写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05250"/>
            <a:ext cx="11049000" cy="2476500"/>
          </a:xfrm>
          <a:prstGeom prst="roundRect">
            <a:avLst>
              <a:gd name="adj" fmla="val 6154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749565" y="4107180"/>
            <a:ext cx="26928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侧面描写的表达效果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096000" y="4457700"/>
            <a:ext cx="5715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48106" y="4711065"/>
            <a:ext cx="55794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通过"雷声"衬托瀑布巨响，突出壶口瀑布气势磅礴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5092065"/>
            <a:ext cx="56036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通过"湿漉漉""寒噤"侧面描写水势浩大、雾汽弥漫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5473065"/>
            <a:ext cx="458594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为下文枯水季的正面描写蓄势，形成对比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8106" y="5854065"/>
            <a:ext cx="652447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✓ 侧面描写：不直接写瀑布本体，而通过人、环境感受来烘托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5272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品读·下到沟底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152400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410028" y="1297305"/>
            <a:ext cx="137194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第3段赏析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3356" y="1758315"/>
            <a:ext cx="539770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"我们从从容容地下到沟底"——正式进入核心观赏区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3356" y="2139315"/>
            <a:ext cx="857204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"河水从五百米宽的河道上突然跌入深谷"——"跌"字用词精妙，写出水流的急与猛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2857500"/>
            <a:ext cx="5334000" cy="1714500"/>
          </a:xfrm>
          <a:prstGeom prst="roundRect">
            <a:avLst>
              <a:gd name="adj" fmla="val 8889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2857500"/>
            <a:ext cx="5334000" cy="476250"/>
          </a:xfrm>
          <a:prstGeom prst="roundRect">
            <a:avLst>
              <a:gd name="adj" fmla="val 2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174060" y="2935605"/>
            <a:ext cx="212887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炼字赏析："跌"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8106" y="3425190"/>
            <a:ext cx="27079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"跌"字本义是摔倒、坠落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106" y="3758565"/>
            <a:ext cx="36530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文中写出河水毫无缓冲地坠入深谷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8106" y="4091940"/>
            <a:ext cx="36772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一个"跌"字，化静为动，气势磅礴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2857500"/>
            <a:ext cx="5334000" cy="1714500"/>
          </a:xfrm>
          <a:prstGeom prst="roundRect">
            <a:avLst>
              <a:gd name="adj" fmla="val 8889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286500" y="2857500"/>
            <a:ext cx="5334000" cy="476250"/>
          </a:xfrm>
          <a:prstGeom prst="roundRect">
            <a:avLst>
              <a:gd name="adj" fmla="val 2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349158" y="293560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比喻赏析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63106" y="3425190"/>
            <a:ext cx="31926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"排排黄浪霎时碎成堆堆白雪"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63106" y="3758565"/>
            <a:ext cx="305935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黄浪→白雪：形色兼备的比喻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3106" y="4091940"/>
            <a:ext cx="31562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"千军万马"→ 气势宏大的比喻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4857750"/>
            <a:ext cx="11049000" cy="152400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410028" y="5059680"/>
            <a:ext cx="137194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第3段小结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096000" y="5410200"/>
            <a:ext cx="5715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43356" y="5615940"/>
            <a:ext cx="881435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第3段是过渡段，从雨季远观转向枯水季近观，由"未见"到"见到"，笔触越来越细.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3356" y="5996940"/>
            <a:ext cx="41376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关键词：从容、跌入、碎成、千军万马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5272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比喻·妙语连珠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53340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7344" y="1218248"/>
            <a:ext cx="280372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"一卷飞毯从空中抖落"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106" y="1615440"/>
            <a:ext cx="48646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将瀑布比作飞毯，写出水流整体下落的动态美</a:t>
            </a:r>
          </a:p>
        </p:txBody>
      </p:sp>
      <p:sp>
        <p:nvSpPr>
          <p:cNvPr id="9" name="Rectangle 9"/>
          <p:cNvSpPr/>
          <p:nvPr/>
        </p:nvSpPr>
        <p:spPr>
          <a:xfrm>
            <a:off x="6286500" y="1047750"/>
            <a:ext cx="53340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6286500" y="10477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562344" y="1218248"/>
            <a:ext cx="197681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"一块钢板出轧"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63106" y="1615440"/>
            <a:ext cx="48646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将水流比作钢板出轧，写出水的坚硬和力量感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2571750"/>
            <a:ext cx="53340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71500" y="25717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47344" y="2742248"/>
            <a:ext cx="170118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"如千军万马"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8106" y="3139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用军队比喻瀑布气势，写出不可阻挡的力量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2571750"/>
            <a:ext cx="5334000" cy="1238250"/>
          </a:xfrm>
          <a:prstGeom prst="roundRect">
            <a:avLst>
              <a:gd name="adj" fmla="val 12308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286500" y="25717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562344" y="2742248"/>
            <a:ext cx="363062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"排排黄浪霎时碎成堆堆白雪"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63106" y="3139440"/>
            <a:ext cx="427093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黄→白，颜色对比，写出水花飞溅的瞬间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4095750"/>
            <a:ext cx="11049000" cy="2286000"/>
          </a:xfrm>
          <a:prstGeom prst="roundRect">
            <a:avLst>
              <a:gd name="adj" fmla="val 666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491658" y="42976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比喻小结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96000" y="4648200"/>
            <a:ext cx="5715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356" y="4806315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文中比喻特点：新颖奇特、气势宏大、形神兼备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3356" y="5139690"/>
            <a:ext cx="55794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● 化无形为有形——将水流比作飞毯、钢板等具体事物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3356" y="5473065"/>
            <a:ext cx="48524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● 化静为动——用动态比喻写出瀑布奔腾的气势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3356" y="5806440"/>
            <a:ext cx="65487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● 多感官调动——视觉（色彩）、听觉（声音）、触觉（力度）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5272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拟人·赋予生命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1333500"/>
          </a:xfrm>
          <a:prstGeom prst="roundRect">
            <a:avLst>
              <a:gd name="adj" fmla="val 11429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289468" y="1297305"/>
            <a:ext cx="361306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拟人手法——赋予水的生命力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3356" y="1758315"/>
            <a:ext cx="61004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文中赋予水以人的动作、情绪和行为，让瀑布"活"了起来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3356" y="2091690"/>
            <a:ext cx="58338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这类拟人化描写让初中生更容易感受到水流的奔腾气势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2667000"/>
            <a:ext cx="5334000" cy="1619250"/>
          </a:xfrm>
          <a:prstGeom prst="roundRect">
            <a:avLst>
              <a:gd name="adj" fmla="val 9412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781050" y="2876550"/>
            <a:ext cx="342900" cy="3429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6573" y="2952750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3594" y="2837498"/>
            <a:ext cx="252808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"涌着、挤着、撞着"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4356" y="3234690"/>
            <a:ext cx="34107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三个动词连用，写出水流的拥挤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4356" y="3568065"/>
            <a:ext cx="34107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和迫不及待，如人群般争先恐后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2667000"/>
            <a:ext cx="5334000" cy="1619250"/>
          </a:xfrm>
          <a:prstGeom prst="roundRect">
            <a:avLst>
              <a:gd name="adj" fmla="val 9412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6496050" y="2876550"/>
            <a:ext cx="342900" cy="342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601573" y="2952750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38594" y="2837498"/>
            <a:ext cx="307935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"被两岸挤压得怒火万丈"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39356" y="3234690"/>
            <a:ext cx="31926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用"怒火万丈"形容水被挤压后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39356" y="3568065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的反抗，赋予人类的情感反应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4572000"/>
            <a:ext cx="5334000" cy="1619250"/>
          </a:xfrm>
          <a:prstGeom prst="roundRect">
            <a:avLst>
              <a:gd name="adj" fmla="val 9412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781050" y="4781550"/>
            <a:ext cx="342900" cy="3429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86573" y="4857750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3594" y="4742498"/>
            <a:ext cx="307935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"前呼后拥地推着、搡着"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24356" y="513969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模拟人潮拥挤的场景，写出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4356" y="5473065"/>
            <a:ext cx="34107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浪花层层叠叠、争先恐后的动态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86500" y="4572000"/>
            <a:ext cx="5334000" cy="1619250"/>
          </a:xfrm>
          <a:prstGeom prst="roundRect">
            <a:avLst>
              <a:gd name="adj" fmla="val 9412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6496050" y="4781550"/>
            <a:ext cx="342900" cy="342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601573" y="4857750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38594" y="4742498"/>
            <a:ext cx="14255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"夺路而走"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39356" y="5139690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本是人类面临困境时的行为，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39356" y="5473065"/>
            <a:ext cx="36530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用在水中，写出了水的急切与顽强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31731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水的万千姿态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1428750"/>
          </a:xfrm>
          <a:prstGeom prst="roundRect">
            <a:avLst>
              <a:gd name="adj" fmla="val 1066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992630" y="1297305"/>
            <a:ext cx="420673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动词的妙用——水的形态变化链条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3356" y="1758315"/>
            <a:ext cx="70454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作者用一系列精准的动词，展现水流从高处到低处的完整动态过程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762250"/>
            <a:ext cx="1333500" cy="762000"/>
          </a:xfrm>
          <a:prstGeom prst="roundRect">
            <a:avLst>
              <a:gd name="adj" fmla="val 125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79163" y="3011805"/>
            <a:ext cx="31817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03959" y="2979420"/>
            <a:ext cx="202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E8A3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190750" y="2762250"/>
            <a:ext cx="1333500" cy="762000"/>
          </a:xfrm>
          <a:prstGeom prst="roundRect">
            <a:avLst>
              <a:gd name="adj" fmla="val 125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698413" y="3011805"/>
            <a:ext cx="31817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挤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23209" y="2979420"/>
            <a:ext cx="202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E8A3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810000" y="2762250"/>
            <a:ext cx="1333500" cy="762000"/>
          </a:xfrm>
          <a:prstGeom prst="roundRect">
            <a:avLst>
              <a:gd name="adj" fmla="val 125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17663" y="3011805"/>
            <a:ext cx="31817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撞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42459" y="2979420"/>
            <a:ext cx="202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E8A3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429250" y="2762250"/>
            <a:ext cx="1333500" cy="762000"/>
          </a:xfrm>
          <a:prstGeom prst="roundRect">
            <a:avLst>
              <a:gd name="adj" fmla="val 125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936913" y="3011805"/>
            <a:ext cx="31817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碎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61709" y="2979420"/>
            <a:ext cx="202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E8A3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048500" y="2762250"/>
            <a:ext cx="1333500" cy="762000"/>
          </a:xfrm>
          <a:prstGeom prst="roundRect">
            <a:avLst>
              <a:gd name="adj" fmla="val 125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556163" y="3011805"/>
            <a:ext cx="31817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80959" y="2979420"/>
            <a:ext cx="202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E8A3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667750" y="2762250"/>
            <a:ext cx="1333500" cy="762000"/>
          </a:xfrm>
          <a:prstGeom prst="roundRect">
            <a:avLst>
              <a:gd name="adj" fmla="val 125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75413" y="3011805"/>
            <a:ext cx="31817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00209" y="2979420"/>
            <a:ext cx="202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E8A3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0287000" y="2762250"/>
            <a:ext cx="1333500" cy="762000"/>
          </a:xfrm>
          <a:prstGeom prst="roundRect">
            <a:avLst>
              <a:gd name="adj" fmla="val 125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794663" y="3011805"/>
            <a:ext cx="31817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散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3905250"/>
            <a:ext cx="5334000" cy="2476500"/>
          </a:xfrm>
          <a:prstGeom prst="roundRect">
            <a:avLst>
              <a:gd name="adj" fmla="val 6154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677325" y="412337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视觉描写</a:t>
            </a:r>
          </a:p>
        </p:txBody>
      </p:sp>
      <p:sp>
        <p:nvSpPr>
          <p:cNvPr id="31" name="Rectangle 31"/>
          <p:cNvSpPr/>
          <p:nvPr/>
        </p:nvSpPr>
        <p:spPr>
          <a:xfrm>
            <a:off x="3238500" y="4429125"/>
            <a:ext cx="381000" cy="19050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48106" y="4568190"/>
            <a:ext cx="257472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黄浪→白雪（色彩变化）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8106" y="4901565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彩虹升起（色彩斑斓）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8106" y="5234940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雾化成烟（形态变化）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5568315"/>
            <a:ext cx="17629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水→雾→虹→雪→烟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286500" y="3905250"/>
            <a:ext cx="5334000" cy="2476500"/>
          </a:xfrm>
          <a:prstGeom prst="roundRect">
            <a:avLst>
              <a:gd name="adj" fmla="val 6154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392325" y="412337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听觉描写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953500" y="4429125"/>
            <a:ext cx="381000" cy="19050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563106" y="4568190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涛声如雷（气势宏大）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563106" y="4901565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轰鸣震耳（震耳欲聋）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63106" y="5234940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水声訇然（持续不断）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63106" y="556831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多感官立体描写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5272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石头·水的刻痕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5334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3340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485739" y="124968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石头的形态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106" y="1758315"/>
            <a:ext cx="26716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"千孔万孔如蜂窝一般"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106" y="2139315"/>
            <a:ext cx="36530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比喻、夸张并举，写出水的侵蚀力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8106" y="2615565"/>
            <a:ext cx="38832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"被水凿了，被水切了，被水旋了"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8106" y="2996565"/>
            <a:ext cx="43799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排比句式，写出水在不同方向上的塑造力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3472815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窟、窍、半圆形、坑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8106" y="3853815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描写石头被侵蚀的各种形状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57250" y="4429125"/>
            <a:ext cx="4762500" cy="19050"/>
          </a:xfrm>
          <a:prstGeom prst="rect">
            <a:avLst/>
          </a:prstGeom>
          <a:solidFill>
            <a:srgbClr val="E8D5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634158" y="458343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由石见水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8106" y="5044440"/>
            <a:ext cx="389534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写石头的变化，实际是在写水的力量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8106" y="5425440"/>
            <a:ext cx="273222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"原来水有——伟大的力量"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8106" y="5806440"/>
            <a:ext cx="389534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省略号的使用，意味深长，引发思考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1047750"/>
            <a:ext cx="5334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286500" y="1047750"/>
            <a:ext cx="5334000" cy="571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052321" y="1249680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修辞手法归纳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667500" y="1809750"/>
            <a:ext cx="4572000" cy="952500"/>
          </a:xfrm>
          <a:prstGeom prst="roundRect">
            <a:avLst>
              <a:gd name="adj" fmla="val 12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6800850" y="2038350"/>
            <a:ext cx="304800" cy="3048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850980" y="21116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喻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29856" y="2044065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千孔万孔如蜂窝一般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667500" y="2952750"/>
            <a:ext cx="4572000" cy="952500"/>
          </a:xfrm>
          <a:prstGeom prst="roundRect">
            <a:avLst>
              <a:gd name="adj" fmla="val 12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800850" y="3181350"/>
            <a:ext cx="304800" cy="3048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50980" y="32546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排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29856" y="3187065"/>
            <a:ext cx="34107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被水凿了，被水切了，被水旋了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667500" y="4095750"/>
            <a:ext cx="4572000" cy="952500"/>
          </a:xfrm>
          <a:prstGeom prst="roundRect">
            <a:avLst>
              <a:gd name="adj" fmla="val 12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6800850" y="4324350"/>
            <a:ext cx="304800" cy="3048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850980" y="43976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炼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229856" y="4330065"/>
            <a:ext cx="278069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"凿""切""旋"——动词精准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841818" y="5425440"/>
            <a:ext cx="22233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石头是"沉默的证人"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853934" y="5758815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见证了水的巨大力量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329052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由水及人·升华主旨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7150" cy="533400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6582" y="1297305"/>
            <a:ext cx="347948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第6段——全文核心升华段落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106" y="1901190"/>
            <a:ext cx="73120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i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"人常以柔情比水，但至柔至和的水一旦被压迫竟会这样怒不可遏。"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428875"/>
            <a:ext cx="10287000" cy="19050"/>
          </a:xfrm>
          <a:prstGeom prst="rect">
            <a:avLst/>
          </a:prstGeom>
          <a:solidFill>
            <a:srgbClr val="E8D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47344" y="2599372"/>
            <a:ext cx="250052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写作手法：托物言志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8106" y="2996565"/>
            <a:ext cx="261106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物（水）→ 志（精神）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3377565"/>
            <a:ext cx="458594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由具体的景物描写上升到抽象的哲理思考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8106" y="3758565"/>
            <a:ext cx="56400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水"至柔至和"的特质 → 被压迫后"怒不可遏"的反抗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57250" y="4286250"/>
            <a:ext cx="10287000" cy="19050"/>
          </a:xfrm>
          <a:prstGeom prst="rect">
            <a:avLst/>
          </a:prstGeom>
          <a:solidFill>
            <a:srgbClr val="E8D5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47344" y="4456748"/>
            <a:ext cx="222488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由水到人再到民族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8106" y="4853940"/>
            <a:ext cx="281703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水→柔中有刚 → 人的品格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8106" y="5187315"/>
            <a:ext cx="450113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石见证水→水感悟人→黄河精神→民族精神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8106" y="5520690"/>
            <a:ext cx="434362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层层递进，由实到虚，将文章推向高潮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8106" y="5901690"/>
            <a:ext cx="676678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✓ 这是全文最大的亮点：由一处风景升华到一个民族的精神品格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5272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语言特色·归纳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257175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53033" y="12496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动词精准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0125" y="1710690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跌、涌、挤、撞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0125" y="204406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碎、溅、凿、切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381375" y="1047750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381375" y="1047750"/>
            <a:ext cx="2571750" cy="571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062908" y="12496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比喻生动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10000" y="1710690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飞毯、钢板出轧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10000" y="204406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千军万马、白雪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91250" y="1047750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6191250" y="1047750"/>
            <a:ext cx="257175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872783" y="12496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拟人传神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19875" y="1710690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推搡、怒火万丈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19875" y="204406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前呼后拥、夺路</a:t>
            </a:r>
          </a:p>
        </p:txBody>
      </p:sp>
      <p:sp>
        <p:nvSpPr>
          <p:cNvPr id="20" name="Rectangle 20"/>
          <p:cNvSpPr/>
          <p:nvPr/>
        </p:nvSpPr>
        <p:spPr>
          <a:xfrm>
            <a:off x="9001125" y="1047750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9001125" y="1047750"/>
            <a:ext cx="2571750" cy="571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682658" y="12496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排比有力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08592" y="17106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凿了、切了、旋了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59950" y="2044065"/>
            <a:ext cx="12541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有的…有的…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2667000"/>
            <a:ext cx="11049000" cy="1333500"/>
          </a:xfrm>
          <a:prstGeom prst="roundRect">
            <a:avLst>
              <a:gd name="adj" fmla="val 11429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601146" y="2868930"/>
            <a:ext cx="298970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句式特点：长短句结合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96000" y="3219450"/>
            <a:ext cx="5715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3356" y="3377565"/>
            <a:ext cx="412554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长句写景——充分描绘瀑布的万千姿态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3356" y="3710940"/>
            <a:ext cx="43678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短句达情——简洁有力地表达感悟和升华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286250"/>
            <a:ext cx="5334000" cy="2095500"/>
          </a:xfrm>
          <a:prstGeom prst="roundRect">
            <a:avLst>
              <a:gd name="adj" fmla="val 7273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2539508" y="4504372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多感官描写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8106" y="4901565"/>
            <a:ext cx="264741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视觉：色彩、形态变化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8106" y="5234940"/>
            <a:ext cx="264741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听觉：轰鸣、訇然作响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8106" y="5568315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触觉：湿漉漉、寒噤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286500" y="4286250"/>
            <a:ext cx="5334000" cy="2095500"/>
          </a:xfrm>
          <a:prstGeom prst="roundRect">
            <a:avLst>
              <a:gd name="adj" fmla="val 7273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392325" y="450437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抒情特点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63106" y="4901565"/>
            <a:ext cx="288973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先写景后抒情，景中有情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63106" y="5234940"/>
            <a:ext cx="288973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由具体到抽象，逐步升华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63106" y="5568315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情理交融，感染力强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329052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写作手法·归纳总结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2571750" cy="1238250"/>
          </a:xfrm>
          <a:prstGeom prst="roundRect">
            <a:avLst>
              <a:gd name="adj" fmla="val 923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762000" y="1285875"/>
            <a:ext cx="381000" cy="3810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79980" y="13649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3594" y="126587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定点换景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5118" y="1679258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以河心为观察点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5118" y="1965008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多角度描写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381375" y="1047750"/>
            <a:ext cx="2571750" cy="1238250"/>
          </a:xfrm>
          <a:prstGeom prst="roundRect">
            <a:avLst>
              <a:gd name="adj" fmla="val 923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3571875" y="1285875"/>
            <a:ext cx="381000" cy="381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689855" y="13649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33469" y="126587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对比手法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34993" y="1679258"/>
            <a:ext cx="17937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雨季与枯水季对比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34993" y="1965008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远观与近看对比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191250" y="1047750"/>
            <a:ext cx="2571750" cy="1238250"/>
          </a:xfrm>
          <a:prstGeom prst="roundRect">
            <a:avLst>
              <a:gd name="adj" fmla="val 923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6381750" y="1285875"/>
            <a:ext cx="381000" cy="3810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499730" y="13649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43344" y="126587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托物言志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44868" y="1679258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由水及人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44868" y="1965008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由景入情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001125" y="1047750"/>
            <a:ext cx="2571750" cy="1238250"/>
          </a:xfrm>
          <a:prstGeom prst="roundRect">
            <a:avLst>
              <a:gd name="adj" fmla="val 923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9191625" y="1285875"/>
            <a:ext cx="381000" cy="381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09605" y="13649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53219" y="126587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首尾呼应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54743" y="1679258"/>
            <a:ext cx="181596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开头"两次到壶口"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54743" y="1965008"/>
            <a:ext cx="159383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结尾"感悟黄河"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2571750"/>
            <a:ext cx="11049000" cy="3810000"/>
          </a:xfrm>
          <a:prstGeom prst="roundRect">
            <a:avLst>
              <a:gd name="adj" fmla="val 4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749565" y="2773680"/>
            <a:ext cx="26928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本文写作手法一览表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96000" y="3124200"/>
            <a:ext cx="5715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762000" y="3333750"/>
            <a:ext cx="1714500" cy="381000"/>
          </a:xfrm>
          <a:prstGeom prst="roundRect">
            <a:avLst>
              <a:gd name="adj" fmla="val 15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355674" y="3396615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手法</a:t>
            </a:r>
          </a:p>
        </p:txBody>
      </p:sp>
      <p:sp>
        <p:nvSpPr>
          <p:cNvPr id="34" name="Rectangle 34"/>
          <p:cNvSpPr/>
          <p:nvPr/>
        </p:nvSpPr>
        <p:spPr>
          <a:xfrm>
            <a:off x="2667000" y="3333750"/>
            <a:ext cx="2857500" cy="381000"/>
          </a:xfrm>
          <a:prstGeom prst="roundRect">
            <a:avLst>
              <a:gd name="adj" fmla="val 15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577742" y="339661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文中体现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0" y="3333750"/>
            <a:ext cx="5334000" cy="381000"/>
          </a:xfrm>
          <a:prstGeom prst="roundRect">
            <a:avLst>
              <a:gd name="adj" fmla="val 15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863992" y="339661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表达效果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43356" y="385381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定点换景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848356" y="3853815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以河心为固定观察点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896356" y="3853815"/>
            <a:ext cx="26837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全面展现瀑布的不同角度</a:t>
            </a:r>
          </a:p>
        </p:txBody>
      </p:sp>
      <p:sp>
        <p:nvSpPr>
          <p:cNvPr id="41" name="Line 41"/>
          <p:cNvSpPr/>
          <p:nvPr/>
        </p:nvSpPr>
        <p:spPr>
          <a:xfrm>
            <a:off x="762000" y="4191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8D5C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943356" y="4330065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对比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848356" y="4330065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雨季与枯水季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896356" y="4330065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突出瀑布不同季节的独特魅力</a:t>
            </a:r>
          </a:p>
        </p:txBody>
      </p:sp>
      <p:sp>
        <p:nvSpPr>
          <p:cNvPr id="45" name="Line 45"/>
          <p:cNvSpPr/>
          <p:nvPr/>
        </p:nvSpPr>
        <p:spPr>
          <a:xfrm>
            <a:off x="762000" y="4667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8D5C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943356" y="480631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托物言志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848356" y="4806315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由水及人，升华主旨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896356" y="4806315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由具体景物上升到哲理高度</a:t>
            </a:r>
          </a:p>
        </p:txBody>
      </p:sp>
      <p:sp>
        <p:nvSpPr>
          <p:cNvPr id="49" name="Line 49"/>
          <p:cNvSpPr/>
          <p:nvPr/>
        </p:nvSpPr>
        <p:spPr>
          <a:xfrm>
            <a:off x="762000" y="5143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8D5C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943356" y="528256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首尾呼应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848356" y="5282565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开头引出，结尾升华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896356" y="5282565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结构完整，主题突出</a:t>
            </a:r>
          </a:p>
        </p:txBody>
      </p:sp>
      <p:sp>
        <p:nvSpPr>
          <p:cNvPr id="53" name="Line 53"/>
          <p:cNvSpPr/>
          <p:nvPr/>
        </p:nvSpPr>
        <p:spPr>
          <a:xfrm>
            <a:off x="762000" y="5619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8D5C0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943356" y="575881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侧面描写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848356" y="575881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以声写势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896356" y="5758815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侧面烘托，增强艺术感染力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5272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黄河·水的品格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1333500"/>
          </a:xfrm>
          <a:prstGeom prst="roundRect">
            <a:avLst>
              <a:gd name="adj" fmla="val 11429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6582" y="1249680"/>
            <a:ext cx="671501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"黄河博大宽厚，柔中有刚；挟而不服，压而不弯；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6582" y="1630680"/>
            <a:ext cx="612133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不平则呼，遇强则抗；死地必生，勇往直前。"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868" y="2060258"/>
            <a:ext cx="26044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A088"/>
                </a:solidFill>
                <a:latin typeface="Segoe UI"/>
                <a:ea typeface="Microsoft YaHei"/>
                <a:cs typeface="Segoe UI"/>
              </a:rPr>
              <a:t>——梁衡《壶口瀑布》第6段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2667000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339367" y="28536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博大宽厚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4747" y="3203258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包容万物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350520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海纳百川的胸怀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381375" y="2667000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149242" y="28536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柔中有刚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14622" y="3203258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外表柔和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55770" y="35052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内心刚强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191250" y="2667000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959117" y="28536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挟而不服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13436" y="3203258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不屈服外力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65645" y="35052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坚持自我</a:t>
            </a:r>
          </a:p>
        </p:txBody>
      </p:sp>
      <p:sp>
        <p:nvSpPr>
          <p:cNvPr id="22" name="Rectangle 22"/>
          <p:cNvSpPr/>
          <p:nvPr/>
        </p:nvSpPr>
        <p:spPr>
          <a:xfrm>
            <a:off x="9001125" y="2667000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768992" y="28536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压而不弯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34372" y="3203258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宁折不弯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75520" y="35052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坚强不屈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286250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339367" y="447294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不平则呼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04747" y="4822508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敢于发声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4930" y="5124450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不公则抗争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381375" y="4286250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149242" y="447294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遇强则抗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14622" y="4822508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越强越勇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55770" y="512445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不畏强权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191250" y="4286250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959117" y="447294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死地必生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024497" y="4822508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绝处逢生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65645" y="512445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永不言弃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001125" y="4286250"/>
            <a:ext cx="2571750" cy="1333500"/>
          </a:xfrm>
          <a:prstGeom prst="roundRect">
            <a:avLst>
              <a:gd name="adj" fmla="val 8571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768992" y="447294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勇往直前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834372" y="4822508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一往无前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875520" y="512445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永不回头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443546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黄河精神·中华民族的象征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2571750"/>
          </a:xfrm>
          <a:prstGeom prst="roundRect">
            <a:avLst>
              <a:gd name="adj" fmla="val 5926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11049000" cy="7620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557217" y="1312545"/>
            <a:ext cx="307756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从黄河水到中华民族</a:t>
            </a:r>
          </a:p>
        </p:txBody>
      </p:sp>
      <p:sp>
        <p:nvSpPr>
          <p:cNvPr id="8" name="Rectangle 8"/>
          <p:cNvSpPr/>
          <p:nvPr/>
        </p:nvSpPr>
        <p:spPr>
          <a:xfrm>
            <a:off x="6096000" y="1695450"/>
            <a:ext cx="7620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43356" y="1948815"/>
            <a:ext cx="344705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黄河水的品格 → 中华民族的精神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3356" y="2329815"/>
            <a:ext cx="70454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梁衡从壶口瀑布的壮丽景象中，看到了黄河的博大宽厚、柔中有刚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3356" y="2710815"/>
            <a:ext cx="72877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而这些品质，正是中华民族历经五千年风雨依然生生不息的精神密码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3356" y="3091815"/>
            <a:ext cx="63427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黄河→中华民族的母亲河；壶口瀑布→黄河精神最集中的体现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3905250"/>
            <a:ext cx="5334000" cy="2476500"/>
          </a:xfrm>
          <a:prstGeom prst="roundRect">
            <a:avLst>
              <a:gd name="adj" fmla="val 6154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71500" y="3905250"/>
            <a:ext cx="53340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040484" y="4107180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中华民族精神品格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8106" y="4615815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百折不挠、坚韧不拔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8106" y="4996815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自强不息、厚德载物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8106" y="5377815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包容万象、生生不息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8106" y="5758815"/>
            <a:ext cx="24051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历经磨难而愈发坚强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3905250"/>
            <a:ext cx="5334000" cy="2476500"/>
          </a:xfrm>
          <a:prstGeom prst="roundRect">
            <a:avLst>
              <a:gd name="adj" fmla="val 6154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286500" y="3905250"/>
            <a:ext cx="5334000" cy="571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755484" y="4107180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课文给我们的启示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3106" y="4615815"/>
            <a:ext cx="361668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从自然景观中可以感悟人生哲理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3106" y="4996815"/>
            <a:ext cx="410131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柔并不代表弱，至柔之水有至刚之力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3106" y="5377815"/>
            <a:ext cx="385899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面对困难要像黄河水一样勇往直前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63106" y="5758815"/>
            <a:ext cx="337436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爱国情怀从了解祖国河山开始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329052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黄河文化·源远流长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152400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586305" y="1297305"/>
            <a:ext cx="301939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黄河——中华文明的摇篮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3356" y="1758315"/>
            <a:ext cx="68031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黄河流域是中华文明的重要发源地，孕育了辉煌灿烂的中华文化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3356" y="2139315"/>
            <a:ext cx="80147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从仰韶文化到龙山文化，从夏商周到汉唐盛世，黄河见证了中华民族的成长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2857500"/>
            <a:ext cx="3333750" cy="1619250"/>
          </a:xfrm>
          <a:prstGeom prst="roundRect">
            <a:avLst>
              <a:gd name="adj" fmla="val 7059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20367" y="30441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仰韶文化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5747" y="3393758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彩陶文化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7118" y="3695700"/>
            <a:ext cx="18225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距今约7000-5000年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4965" y="3981450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黄河中游地区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81500" y="2857500"/>
            <a:ext cx="3333750" cy="1619250"/>
          </a:xfrm>
          <a:prstGeom prst="roundRect">
            <a:avLst>
              <a:gd name="adj" fmla="val 7059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530367" y="30441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龙门石窟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73624" y="3393758"/>
            <a:ext cx="134950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世界文化遗产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79434" y="3695700"/>
            <a:ext cx="13378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洛阳·黄河南岸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32070" y="398145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北魏至唐代石刻艺术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191500" y="2857500"/>
            <a:ext cx="3333750" cy="1619250"/>
          </a:xfrm>
          <a:prstGeom prst="roundRect">
            <a:avLst>
              <a:gd name="adj" fmla="val 7059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340367" y="30441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黄河号子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72562" y="3393758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非物质文化遗产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43035" y="3695700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黄河船工劳动号子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44000" y="398145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粗犷豪放的民歌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1619250"/>
          </a:xfrm>
          <a:prstGeom prst="roundRect">
            <a:avLst>
              <a:gd name="adj" fmla="val 9412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4762500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194821" y="4964430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弘扬黄河文化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3356" y="5425440"/>
            <a:ext cx="635485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2019年，习近平总书记提出"保护、传承、弘扬黄河文化"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3356" y="5806440"/>
            <a:ext cx="652447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● 黄河文化是中华民族的根和魂，是我们文化自信的重要源泉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25272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黄河·千古诗篇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5143500" cy="1905000"/>
          </a:xfrm>
          <a:prstGeom prst="roundRect">
            <a:avLst>
              <a:gd name="adj" fmla="val 8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52094" y="1265872"/>
            <a:ext cx="237648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"黄河之水天上来，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2094" y="1599248"/>
            <a:ext cx="210085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奔流到海不复回"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3618" y="2060258"/>
            <a:ext cx="181596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——李白《将进酒》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286500" y="1047750"/>
            <a:ext cx="5334000" cy="1905000"/>
          </a:xfrm>
          <a:prstGeom prst="roundRect">
            <a:avLst>
              <a:gd name="adj" fmla="val 8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6286500" y="1047750"/>
            <a:ext cx="5334000" cy="571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467094" y="1265872"/>
            <a:ext cx="237648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"九曲黄河万里沙，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67094" y="1599248"/>
            <a:ext cx="210085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浪淘风簸自天涯"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68618" y="2060258"/>
            <a:ext cx="26044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——刘禹锡《浪淘沙·其一》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238500"/>
            <a:ext cx="5143500" cy="1905000"/>
          </a:xfrm>
          <a:prstGeom prst="roundRect">
            <a:avLst>
              <a:gd name="adj" fmla="val 8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238500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52094" y="3456622"/>
            <a:ext cx="237648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"黄河远上白云间，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2094" y="3789998"/>
            <a:ext cx="210085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一片孤城万仞山"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3618" y="4251008"/>
            <a:ext cx="203808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——王之涣《凉州词》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3238500"/>
            <a:ext cx="5334000" cy="1905000"/>
          </a:xfrm>
          <a:prstGeom prst="roundRect">
            <a:avLst>
              <a:gd name="adj" fmla="val 8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286500" y="3238500"/>
            <a:ext cx="5334000" cy="571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67094" y="3456622"/>
            <a:ext cx="182521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"白日依山尽，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67094" y="3789998"/>
            <a:ext cx="154958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黄河入海流"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68618" y="4251008"/>
            <a:ext cx="226020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——王之涣《登鹳雀楼》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5429250"/>
            <a:ext cx="11049000" cy="952500"/>
          </a:xfrm>
          <a:prstGeom prst="roundRect">
            <a:avLst>
              <a:gd name="adj" fmla="val 16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088642" y="5615940"/>
            <a:ext cx="80147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黄河是历代诗人吟咏的对象，这些千古名句表达了诗人对黄河的赞美与热爱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866388" y="5965508"/>
            <a:ext cx="44592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请同学们齐读这些诗句，感受黄河的磅礴气势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176392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思考·感悟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1619250"/>
          </a:xfrm>
          <a:prstGeom prst="roundRect">
            <a:avLst>
              <a:gd name="adj" fmla="val 9412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343239" y="1297305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讨论与思考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3356" y="1805940"/>
            <a:ext cx="70454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学了《壶口瀑布》这篇课文，结合以下问题，谈谈你的理解与感悟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952750"/>
            <a:ext cx="5334000" cy="1619250"/>
          </a:xfrm>
          <a:prstGeom prst="roundRect">
            <a:avLst>
              <a:gd name="adj" fmla="val 7059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762000" y="3190875"/>
            <a:ext cx="381000" cy="3810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6573" y="32861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4356" y="313944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你从壶口瀑布的描写中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4356" y="34728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感受到了怎样的力量？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4118" y="3965258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提示：从水的气势、声音、形态等方面思考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86500" y="2952750"/>
            <a:ext cx="5334000" cy="1619250"/>
          </a:xfrm>
          <a:prstGeom prst="roundRect">
            <a:avLst>
              <a:gd name="adj" fmla="val 7059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6477000" y="3190875"/>
            <a:ext cx="381000" cy="381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601573" y="32861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9356" y="313944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黄河精神对我们今天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39356" y="3472815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有什么启示？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8618" y="3965258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提示：联系生活实际，谈谈你的感受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4857750"/>
            <a:ext cx="11049000" cy="152400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762000" y="5095875"/>
            <a:ext cx="381000" cy="381000"/>
          </a:xfrm>
          <a:prstGeom prst="ellipse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86573" y="51911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4356" y="5044440"/>
            <a:ext cx="63790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你还知道哪些体现中华民族精神的名胜古迹或自然景观？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4118" y="5536882"/>
            <a:ext cx="670266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提示：长城、泰山、长江、黄山……这些景物分别代表了怎样的精神？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4118" y="5917882"/>
            <a:ext cx="32486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A088"/>
                </a:solidFill>
                <a:latin typeface="Segoe UI"/>
                <a:ea typeface="Microsoft YaHei"/>
                <a:cs typeface="Segoe UI"/>
              </a:rPr>
              <a:t>小组讨论5分钟，每组派代表分享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405381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课堂检测·一：基础巩固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194821" y="129730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给加点字注音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3356" y="1853565"/>
            <a:ext cx="513115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1. 告诫（ ）—— 家长常常告诫我们要诚实守信。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3356" y="2282190"/>
            <a:ext cx="44042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2. 推搡（ ）—— 人群互相推搡着向前挤。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3356" y="2710815"/>
            <a:ext cx="44042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3. 驰骋（ ）—— 骏马在草原上尽情驰骋。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3356" y="3139440"/>
            <a:ext cx="4888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4. 漩涡（ ）—— 水流急处形成了一个个漩涡。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3356" y="3568065"/>
            <a:ext cx="46465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5. 寒噤（ ）—— 他打了个寒噤，全身发抖。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3356" y="3996690"/>
            <a:ext cx="41618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6. 怒不可遏（ ）—— 他气得怒不可遏。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3356" y="4425315"/>
            <a:ext cx="39195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7. 汩汩（ ）—— 泉水汩汩地往外冒。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3356" y="4853940"/>
            <a:ext cx="36772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8. 潺潺（ ）—— 溪水潺潺地流着。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00" y="5381625"/>
            <a:ext cx="9525000" cy="19050"/>
          </a:xfrm>
          <a:prstGeom prst="rect">
            <a:avLst/>
          </a:prstGeom>
          <a:solidFill>
            <a:srgbClr val="E8D5C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44118" y="5584508"/>
            <a:ext cx="691368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参考答案：1.jiè 2.sǎng 3.chěng 4.xuán wō 5.jìn 6.è 7.gǔ 8.chán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4118" y="5917882"/>
            <a:ext cx="34596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A088"/>
                </a:solidFill>
                <a:latin typeface="Segoe UI"/>
                <a:ea typeface="Microsoft YaHei"/>
                <a:cs typeface="Segoe UI"/>
              </a:rPr>
              <a:t>每题2分，共16分。得分：____/16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405381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课堂检测·二：阅读理解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1619250"/>
          </a:xfrm>
          <a:prstGeom prst="roundRect">
            <a:avLst>
              <a:gd name="adj" fmla="val 9412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7150" cy="161925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7344" y="1265872"/>
            <a:ext cx="481585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1. 作者为什么要写两次到壶口的经历？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106" y="1710690"/>
            <a:ext cx="43799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提示：从写法、结构、内容三个角度思考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868" y="2107882"/>
            <a:ext cx="901274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A088"/>
                </a:solidFill>
                <a:latin typeface="Segoe UI"/>
                <a:ea typeface="Microsoft YaHei"/>
                <a:cs typeface="Segoe UI"/>
              </a:rPr>
              <a:t>答：______________________________________________________________________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2952750"/>
            <a:ext cx="11049000" cy="1619250"/>
          </a:xfrm>
          <a:prstGeom prst="roundRect">
            <a:avLst>
              <a:gd name="adj" fmla="val 9412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2952750"/>
            <a:ext cx="57150" cy="161925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7344" y="3170872"/>
            <a:ext cx="66212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2. "人常以柔情比水，但至柔至和的水一旦被压迫竟会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7344" y="3504248"/>
            <a:ext cx="485719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这样怒不可遏。"这句话的含义是什么？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868" y="3917632"/>
            <a:ext cx="901274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A088"/>
                </a:solidFill>
                <a:latin typeface="Segoe UI"/>
                <a:ea typeface="Microsoft YaHei"/>
                <a:cs typeface="Segoe UI"/>
              </a:rPr>
              <a:t>答：______________________________________________________________________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4857750"/>
            <a:ext cx="11049000" cy="1524000"/>
          </a:xfrm>
          <a:prstGeom prst="roundRect">
            <a:avLst>
              <a:gd name="adj" fmla="val 10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4857750"/>
            <a:ext cx="57150" cy="152400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47344" y="5075872"/>
            <a:ext cx="729656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3. 本文运用了哪些修辞手法？请各举一例并说明表达效果。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8868" y="5536882"/>
            <a:ext cx="901274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A088"/>
                </a:solidFill>
                <a:latin typeface="Segoe UI"/>
                <a:ea typeface="Microsoft YaHei"/>
                <a:cs typeface="Segoe UI"/>
              </a:rPr>
              <a:t>答：______________________________________________________________________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8868" y="5870258"/>
            <a:ext cx="881283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B8A088"/>
                </a:solidFill>
                <a:latin typeface="Segoe UI"/>
                <a:ea typeface="Segoe UI"/>
                <a:cs typeface="Segoe UI"/>
              </a:rPr>
              <a:t>________________________________________________________________________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405381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课堂检测·三：拓展运用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11049000" cy="76200"/>
          </a:xfrm>
          <a:prstGeom prst="roundRect">
            <a:avLst>
              <a:gd name="adj" fmla="val 5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40076" y="1344930"/>
            <a:ext cx="91184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小练笔</a:t>
            </a:r>
          </a:p>
        </p:txBody>
      </p:sp>
      <p:sp>
        <p:nvSpPr>
          <p:cNvPr id="8" name="Rectangle 8"/>
          <p:cNvSpPr/>
          <p:nvPr/>
        </p:nvSpPr>
        <p:spPr>
          <a:xfrm>
            <a:off x="6096000" y="1695450"/>
            <a:ext cx="7620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316624" y="1980248"/>
            <a:ext cx="555875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运用"定点换景"的写法，描写一处你熟悉的风景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42627" y="2425065"/>
            <a:ext cx="550674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要求：200字左右，注意使用比喻、拟人等修辞手法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52500" y="2952750"/>
            <a:ext cx="102870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E8D5C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33856" y="3139440"/>
            <a:ext cx="988054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8B7355"/>
                </a:solidFill>
                <a:latin typeface="Segoe UI"/>
                <a:ea typeface="Segoe UI"/>
                <a:cs typeface="Segoe UI"/>
              </a:rPr>
              <a:t>__________________________________________________________________________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856" y="3520440"/>
            <a:ext cx="988054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8B7355"/>
                </a:solidFill>
                <a:latin typeface="Segoe UI"/>
                <a:ea typeface="Segoe UI"/>
                <a:cs typeface="Segoe UI"/>
              </a:rPr>
              <a:t>__________________________________________________________________________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3856" y="3901440"/>
            <a:ext cx="988054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8B7355"/>
                </a:solidFill>
                <a:latin typeface="Segoe UI"/>
                <a:ea typeface="Segoe UI"/>
                <a:cs typeface="Segoe UI"/>
              </a:rPr>
              <a:t>__________________________________________________________________________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3856" y="4282440"/>
            <a:ext cx="988054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8B7355"/>
                </a:solidFill>
                <a:latin typeface="Segoe UI"/>
                <a:ea typeface="Segoe UI"/>
                <a:cs typeface="Segoe UI"/>
              </a:rPr>
              <a:t>__________________________________________________________________________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3856" y="4663440"/>
            <a:ext cx="988054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8B7355"/>
                </a:solidFill>
                <a:latin typeface="Segoe UI"/>
                <a:ea typeface="Segoe UI"/>
                <a:cs typeface="Segoe UI"/>
              </a:rPr>
              <a:t>__________________________________________________________________________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3856" y="5044440"/>
            <a:ext cx="988054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8B7355"/>
                </a:solidFill>
                <a:latin typeface="Segoe UI"/>
                <a:ea typeface="Segoe UI"/>
                <a:cs typeface="Segoe UI"/>
              </a:rPr>
              <a:t>__________________________________________________________________________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11527" y="6013132"/>
            <a:ext cx="756894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B8A088"/>
                </a:solidFill>
                <a:latin typeface="Segoe UI"/>
                <a:ea typeface="Microsoft YaHei"/>
                <a:cs typeface="Segoe UI"/>
              </a:rPr>
              <a:t>写作提示：选择一个固定观察点，从不同角度（远近、俯仰、视听）进行描写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课文总结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5334000"/>
          </a:xfrm>
          <a:prstGeom prst="roundRect">
            <a:avLst>
              <a:gd name="adj" fmla="val 2857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294304" y="1264920"/>
            <a:ext cx="360339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《壶口瀑布》·一课一得</a:t>
            </a:r>
          </a:p>
        </p:txBody>
      </p:sp>
      <p:sp>
        <p:nvSpPr>
          <p:cNvPr id="7" name="Rectangle 7"/>
          <p:cNvSpPr/>
          <p:nvPr/>
        </p:nvSpPr>
        <p:spPr>
          <a:xfrm>
            <a:off x="6096000" y="1647825"/>
            <a:ext cx="762000" cy="28575"/>
          </a:xfrm>
          <a:prstGeom prst="rect">
            <a:avLst/>
          </a:prstGeom>
          <a:solidFill>
            <a:srgbClr val="E8A31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52500" y="20002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32332" y="2202180"/>
            <a:ext cx="769669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 xml:space="preserve">本文以 </a:t>
            </a:r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游踪</a:t>
            </a:r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 xml:space="preserve"> 为线索，通过对壶口瀑布 </a:t>
            </a:r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雨季</a:t>
            </a:r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 xml:space="preserve"> 和 </a:t>
            </a:r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枯水季</a:t>
            </a:r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 xml:space="preserve"> 的描写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52500" y="30480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32332" y="3249930"/>
            <a:ext cx="568951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 xml:space="preserve">展现了壶口瀑布 </a:t>
            </a:r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雄伟壮丽、气势磅礴</a:t>
            </a:r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 xml:space="preserve"> 的景象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52500" y="40957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32332" y="4297680"/>
            <a:ext cx="646694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 xml:space="preserve">表达了作者对 </a:t>
            </a:r>
            <a:r>
              <a:rPr lang="zh-CN" sz="210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黄河精神</a:t>
            </a:r>
            <a:r>
              <a:rPr lang="zh-CN" sz="21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 xml:space="preserve"> 的赞美和对中华民族的深情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52500" y="5143500"/>
            <a:ext cx="10096500" cy="952500"/>
          </a:xfrm>
          <a:prstGeom prst="roundRect">
            <a:avLst>
              <a:gd name="adj" fmla="val 12000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397008" y="531399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75B2B"/>
                </a:solidFill>
                <a:latin typeface="Segoe UI"/>
                <a:ea typeface="Microsoft YaHei"/>
                <a:cs typeface="Segoe UI"/>
              </a:rPr>
              <a:t>关键词回顾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57281" y="5663565"/>
            <a:ext cx="327743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游踪 → 所见 → 所感 → 黄河精神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75B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课后作业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5334000" cy="2571750"/>
          </a:xfrm>
          <a:prstGeom prst="roundRect">
            <a:avLst>
              <a:gd name="adj" fmla="val 5926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334000" cy="476250"/>
          </a:xfrm>
          <a:prstGeom prst="roundRect">
            <a:avLst>
              <a:gd name="adj" fmla="val 2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455824" y="1109662"/>
            <a:ext cx="156535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★ 必做作业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106" y="1710690"/>
            <a:ext cx="29381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1. 熟读课文，背诵第4-6段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106" y="2091690"/>
            <a:ext cx="30230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2. 整理课堂笔记中的生字词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8106" y="2472690"/>
            <a:ext cx="326532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3. 完成课后练习题第一、二题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8106" y="285369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检查方式：下节课抽查背诵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1047750"/>
            <a:ext cx="5334000" cy="2571750"/>
          </a:xfrm>
          <a:prstGeom prst="roundRect">
            <a:avLst>
              <a:gd name="adj" fmla="val 5926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286500" y="1047750"/>
            <a:ext cx="5334000" cy="476250"/>
          </a:xfrm>
          <a:prstGeom prst="roundRect">
            <a:avLst>
              <a:gd name="adj" fmla="val 2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170824" y="1109662"/>
            <a:ext cx="156535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★ 选做作业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63106" y="1710690"/>
            <a:ext cx="343494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运用"定点换景"的写法，写一篇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63106" y="2091690"/>
            <a:ext cx="235663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200字左右的游记片段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63868" y="2584132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要求：选择一处风景，尝试用比喻、拟人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63868" y="286988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等修辞手法，写出景物的特点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05250"/>
            <a:ext cx="5334000" cy="2476500"/>
          </a:xfrm>
          <a:prstGeom prst="roundRect">
            <a:avLst>
              <a:gd name="adj" fmla="val 6154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05250"/>
            <a:ext cx="5334000" cy="476250"/>
          </a:xfrm>
          <a:prstGeom prst="roundRect">
            <a:avLst>
              <a:gd name="adj" fmla="val 20000"/>
            </a:avLst>
          </a:prstGeom>
          <a:solidFill>
            <a:srgbClr val="C75B2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455824" y="3967162"/>
            <a:ext cx="156535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★ 拓展作业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106" y="4568190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查阅黄河相关资料，了解更多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949190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黄河文化和历史知识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868" y="5441632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推荐：观看纪录片《黄河》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86500" y="3905250"/>
            <a:ext cx="5334000" cy="2476500"/>
          </a:xfrm>
          <a:prstGeom prst="roundRect">
            <a:avLst>
              <a:gd name="adj" fmla="val 6154"/>
            </a:avLst>
          </a:prstGeom>
          <a:solidFill>
            <a:srgbClr val="FFF0E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286500" y="3905250"/>
            <a:ext cx="5334000" cy="476250"/>
          </a:xfrm>
          <a:prstGeom prst="roundRect">
            <a:avLst>
              <a:gd name="adj" fmla="val 20000"/>
            </a:avLst>
          </a:prstGeom>
          <a:solidFill>
            <a:srgbClr val="E8A317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305990" y="3967162"/>
            <a:ext cx="129501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预习提示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63106" y="4568190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预习下一课《在长江源头各拉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63106" y="494919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1810"/>
                </a:solidFill>
                <a:latin typeface="Segoe UI"/>
                <a:ea typeface="Microsoft YaHei"/>
                <a:cs typeface="Segoe UI"/>
              </a:rPr>
              <a:t>丹冬》，思考与本文的异同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63868" y="54416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355"/>
                </a:solidFill>
                <a:latin typeface="Segoe UI"/>
                <a:ea typeface="Microsoft YaHei"/>
                <a:cs typeface="Segoe UI"/>
              </a:rPr>
              <a:t>同样是游记，写法有何不同？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75B2B"/>
              </a:gs>
              <a:gs pos="100000">
                <a:srgbClr val="E8A31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2381250"/>
            <a:ext cx="12192000" cy="381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59985" y="1325880"/>
            <a:ext cx="207203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谢谢聆听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19928" y="1964055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壶口瀑布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54743" y="2948940"/>
            <a:ext cx="548251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i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"黄河博大宽厚，柔中有刚；挟而不服，压而不弯；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97059" y="3282315"/>
            <a:ext cx="499788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i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不平则呼，遇强则抗；死地必生，勇往直前。"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0" y="3810000"/>
            <a:ext cx="762000" cy="19050"/>
          </a:xfrm>
          <a:prstGeom prst="rect">
            <a:avLst/>
          </a:prstGeom>
          <a:noFill/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566323" y="4091940"/>
            <a:ext cx="305935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部编版初中语文·八年级下册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53039" y="4489132"/>
            <a:ext cx="288592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PPT Master · 语文教学课件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43605" y="6298882"/>
            <a:ext cx="57047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PPT Master by hugohe3 · Generated by Hermes Agent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2026-06-27T12:28:15Z</dcterms:created>
  <dcterms:modified xsi:type="dcterms:W3CDTF">2026-06-27T12:28:15Z</dcterms:modified>
  <cp:category/>
  <cp:contentStatus/>
</cp:coreProperties>
</file>